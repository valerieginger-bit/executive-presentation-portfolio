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3" r:id="rId5"/>
    <p:sldId id="296" r:id="rId6"/>
    <p:sldId id="297" r:id="rId7"/>
    <p:sldId id="298" r:id="rId8"/>
    <p:sldId id="299" r:id="rId9"/>
    <p:sldId id="301" r:id="rId10"/>
    <p:sldId id="3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2EC18E-14AA-454E-8608-BF3EC96B5652}" type="doc">
      <dgm:prSet loTypeId="urn:microsoft.com/office/officeart/2005/8/layout/hList1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5825417D-F846-4A53-86C5-3918286BE4E4}">
      <dgm:prSet phldrT="[Text]"/>
      <dgm:spPr/>
      <dgm:t>
        <a:bodyPr/>
        <a:lstStyle/>
        <a:p>
          <a:r>
            <a:rPr lang="en-US" b="1" dirty="0"/>
            <a:t>Glass cockpit</a:t>
          </a:r>
        </a:p>
      </dgm:t>
    </dgm:pt>
    <dgm:pt modelId="{442B415E-8C55-40B8-BDBA-6FB68FBB1C6D}" type="parTrans" cxnId="{E168AB52-A22A-48FB-92F6-F8785C132773}">
      <dgm:prSet/>
      <dgm:spPr/>
      <dgm:t>
        <a:bodyPr/>
        <a:lstStyle/>
        <a:p>
          <a:endParaRPr lang="en-US"/>
        </a:p>
      </dgm:t>
    </dgm:pt>
    <dgm:pt modelId="{F1D364A7-F02B-46FF-9074-546A5C5CA8DC}" type="sibTrans" cxnId="{E168AB52-A22A-48FB-92F6-F8785C132773}">
      <dgm:prSet/>
      <dgm:spPr/>
      <dgm:t>
        <a:bodyPr/>
        <a:lstStyle/>
        <a:p>
          <a:endParaRPr lang="en-US"/>
        </a:p>
      </dgm:t>
    </dgm:pt>
    <dgm:pt modelId="{52D87AD6-37EE-43C8-A75A-DCE66B8C31ED}">
      <dgm:prSet phldrT="[Text]"/>
      <dgm:spPr/>
      <dgm:t>
        <a:bodyPr/>
        <a:lstStyle/>
        <a:p>
          <a:r>
            <a:rPr lang="en-US" dirty="0"/>
            <a:t>Digital screens replace many dials</a:t>
          </a:r>
        </a:p>
      </dgm:t>
    </dgm:pt>
    <dgm:pt modelId="{5B90B145-A972-4EFE-8135-32D6C2A92196}" type="parTrans" cxnId="{4CFAF3C9-7F43-481A-B46F-5E0AB4ADBCBB}">
      <dgm:prSet/>
      <dgm:spPr/>
      <dgm:t>
        <a:bodyPr/>
        <a:lstStyle/>
        <a:p>
          <a:endParaRPr lang="en-US"/>
        </a:p>
      </dgm:t>
    </dgm:pt>
    <dgm:pt modelId="{30114B69-81C7-4BE4-A0D5-7BB6CB0880F3}" type="sibTrans" cxnId="{4CFAF3C9-7F43-481A-B46F-5E0AB4ADBCBB}">
      <dgm:prSet/>
      <dgm:spPr/>
      <dgm:t>
        <a:bodyPr/>
        <a:lstStyle/>
        <a:p>
          <a:endParaRPr lang="en-US"/>
        </a:p>
      </dgm:t>
    </dgm:pt>
    <dgm:pt modelId="{22750431-31EA-40DA-B44C-273BDF56F350}">
      <dgm:prSet phldrT="[Text]"/>
      <dgm:spPr/>
      <dgm:t>
        <a:bodyPr/>
        <a:lstStyle/>
        <a:p>
          <a:r>
            <a:rPr lang="en-US" dirty="0"/>
            <a:t>Pilot inputs become electrical signals</a:t>
          </a:r>
        </a:p>
      </dgm:t>
    </dgm:pt>
    <dgm:pt modelId="{48C06B20-921C-41AA-96DC-EA44B869827F}" type="parTrans" cxnId="{B9746AAA-53A6-4879-ABB1-2D1FF3C8EC8C}">
      <dgm:prSet/>
      <dgm:spPr/>
      <dgm:t>
        <a:bodyPr/>
        <a:lstStyle/>
        <a:p>
          <a:endParaRPr lang="en-US"/>
        </a:p>
      </dgm:t>
    </dgm:pt>
    <dgm:pt modelId="{84292D6C-85E0-4CF0-9EFD-96E0EF3D4725}" type="sibTrans" cxnId="{B9746AAA-53A6-4879-ABB1-2D1FF3C8EC8C}">
      <dgm:prSet/>
      <dgm:spPr/>
      <dgm:t>
        <a:bodyPr/>
        <a:lstStyle/>
        <a:p>
          <a:endParaRPr lang="en-US"/>
        </a:p>
      </dgm:t>
    </dgm:pt>
    <dgm:pt modelId="{BBB3A9BF-B471-4229-99C8-75B5853F6548}">
      <dgm:prSet phldrT="[Text]"/>
      <dgm:spPr/>
      <dgm:t>
        <a:bodyPr/>
        <a:lstStyle/>
        <a:p>
          <a:r>
            <a:rPr lang="en-US" b="1" dirty="0"/>
            <a:t>Recorders</a:t>
          </a:r>
        </a:p>
      </dgm:t>
    </dgm:pt>
    <dgm:pt modelId="{DEF25A31-68BF-4A44-B1FC-0D75F77ED07C}" type="parTrans" cxnId="{DC83FD6B-8117-4658-837E-E777C6AEBFEB}">
      <dgm:prSet/>
      <dgm:spPr/>
      <dgm:t>
        <a:bodyPr/>
        <a:lstStyle/>
        <a:p>
          <a:endParaRPr lang="en-US"/>
        </a:p>
      </dgm:t>
    </dgm:pt>
    <dgm:pt modelId="{6F561A3B-521F-4A12-9322-185F889A2592}" type="sibTrans" cxnId="{DC83FD6B-8117-4658-837E-E777C6AEBFEB}">
      <dgm:prSet/>
      <dgm:spPr/>
      <dgm:t>
        <a:bodyPr/>
        <a:lstStyle/>
        <a:p>
          <a:endParaRPr lang="en-US"/>
        </a:p>
      </dgm:t>
    </dgm:pt>
    <dgm:pt modelId="{66EE27A3-575D-4344-9DBF-455F95FD01FD}">
      <dgm:prSet phldrT="[Text]"/>
      <dgm:spPr/>
      <dgm:t>
        <a:bodyPr/>
        <a:lstStyle/>
        <a:p>
          <a:r>
            <a:rPr lang="en-US" dirty="0"/>
            <a:t>Flight-data recorder</a:t>
          </a:r>
        </a:p>
      </dgm:t>
    </dgm:pt>
    <dgm:pt modelId="{79FECF37-CEEC-4072-960B-AD6C24354A18}" type="parTrans" cxnId="{17DB7633-3615-4799-8CF4-E8D0A0743FA5}">
      <dgm:prSet/>
      <dgm:spPr/>
      <dgm:t>
        <a:bodyPr/>
        <a:lstStyle/>
        <a:p>
          <a:endParaRPr lang="en-US"/>
        </a:p>
      </dgm:t>
    </dgm:pt>
    <dgm:pt modelId="{BD5D0355-25C6-4F1F-ADE8-34534EC64EE7}" type="sibTrans" cxnId="{17DB7633-3615-4799-8CF4-E8D0A0743FA5}">
      <dgm:prSet/>
      <dgm:spPr/>
      <dgm:t>
        <a:bodyPr/>
        <a:lstStyle/>
        <a:p>
          <a:endParaRPr lang="en-US"/>
        </a:p>
      </dgm:t>
    </dgm:pt>
    <dgm:pt modelId="{E9FC2C5A-61A9-411F-9722-C6F9858A4D8C}">
      <dgm:prSet/>
      <dgm:spPr/>
      <dgm:t>
        <a:bodyPr/>
        <a:lstStyle/>
        <a:p>
          <a:r>
            <a:rPr lang="en-US" dirty="0"/>
            <a:t>Clear flight and navigation information</a:t>
          </a:r>
        </a:p>
      </dgm:t>
    </dgm:pt>
    <dgm:pt modelId="{B79BFAE9-0F48-4D21-803F-87B103AE6CD7}" type="parTrans" cxnId="{8BF32E8A-D43A-4098-8182-91A22FF27009}">
      <dgm:prSet/>
      <dgm:spPr/>
      <dgm:t>
        <a:bodyPr/>
        <a:lstStyle/>
        <a:p>
          <a:endParaRPr lang="en-US"/>
        </a:p>
      </dgm:t>
    </dgm:pt>
    <dgm:pt modelId="{9295A3F6-54D5-4C44-B24F-E1E735ABC230}" type="sibTrans" cxnId="{8BF32E8A-D43A-4098-8182-91A22FF27009}">
      <dgm:prSet/>
      <dgm:spPr/>
      <dgm:t>
        <a:bodyPr/>
        <a:lstStyle/>
        <a:p>
          <a:endParaRPr lang="en-US"/>
        </a:p>
      </dgm:t>
    </dgm:pt>
    <dgm:pt modelId="{7C511CC0-EC62-4DD0-A454-4DD5AB2E1A92}">
      <dgm:prSet/>
      <dgm:spPr/>
      <dgm:t>
        <a:bodyPr/>
        <a:lstStyle/>
        <a:p>
          <a:r>
            <a:rPr lang="en-US" dirty="0"/>
            <a:t>Helps pilots detect issues faster</a:t>
          </a:r>
        </a:p>
      </dgm:t>
    </dgm:pt>
    <dgm:pt modelId="{3A70BCFC-6AE7-4C79-8908-E7B6DC294F93}" type="parTrans" cxnId="{E7654B0B-82A2-4794-BA73-A9EE2C480E51}">
      <dgm:prSet/>
      <dgm:spPr/>
      <dgm:t>
        <a:bodyPr/>
        <a:lstStyle/>
        <a:p>
          <a:endParaRPr lang="en-US"/>
        </a:p>
      </dgm:t>
    </dgm:pt>
    <dgm:pt modelId="{D7536778-778F-481F-AA25-2ADCC65166EA}" type="sibTrans" cxnId="{E7654B0B-82A2-4794-BA73-A9EE2C480E51}">
      <dgm:prSet/>
      <dgm:spPr/>
      <dgm:t>
        <a:bodyPr/>
        <a:lstStyle/>
        <a:p>
          <a:endParaRPr lang="en-US"/>
        </a:p>
      </dgm:t>
    </dgm:pt>
    <dgm:pt modelId="{7E00A081-E321-4452-942F-425217EC70BA}">
      <dgm:prSet/>
      <dgm:spPr/>
      <dgm:t>
        <a:bodyPr/>
        <a:lstStyle/>
        <a:p>
          <a:r>
            <a:rPr lang="en-US" dirty="0"/>
            <a:t>Flight control computers assist</a:t>
          </a:r>
        </a:p>
      </dgm:t>
    </dgm:pt>
    <dgm:pt modelId="{FE85DCD8-36D0-49BA-B8C3-615865E21114}" type="parTrans" cxnId="{C73BB80E-E49D-4556-B8F8-0F1BC1FC0279}">
      <dgm:prSet/>
      <dgm:spPr/>
      <dgm:t>
        <a:bodyPr/>
        <a:lstStyle/>
        <a:p>
          <a:endParaRPr lang="en-US"/>
        </a:p>
      </dgm:t>
    </dgm:pt>
    <dgm:pt modelId="{FC2BB7BF-5084-4092-9500-3087EEED9567}" type="sibTrans" cxnId="{C73BB80E-E49D-4556-B8F8-0F1BC1FC0279}">
      <dgm:prSet/>
      <dgm:spPr/>
      <dgm:t>
        <a:bodyPr/>
        <a:lstStyle/>
        <a:p>
          <a:endParaRPr lang="en-US"/>
        </a:p>
      </dgm:t>
    </dgm:pt>
    <dgm:pt modelId="{0CA6F981-0618-4EB3-BC4C-C68238C2D4A3}">
      <dgm:prSet/>
      <dgm:spPr/>
      <dgm:t>
        <a:bodyPr/>
        <a:lstStyle/>
        <a:p>
          <a:r>
            <a:rPr lang="en-US" dirty="0"/>
            <a:t>Limits extreme commands</a:t>
          </a:r>
        </a:p>
      </dgm:t>
    </dgm:pt>
    <dgm:pt modelId="{579CD29C-63DF-415B-AE41-11798F6424D5}" type="parTrans" cxnId="{432BB3D5-6CAC-4EB4-A98B-DA76FBD7E62B}">
      <dgm:prSet/>
      <dgm:spPr/>
      <dgm:t>
        <a:bodyPr/>
        <a:lstStyle/>
        <a:p>
          <a:endParaRPr lang="en-US"/>
        </a:p>
      </dgm:t>
    </dgm:pt>
    <dgm:pt modelId="{D33B7FF1-BFD2-4FBE-9D78-63AB3EA3CAC0}" type="sibTrans" cxnId="{432BB3D5-6CAC-4EB4-A98B-DA76FBD7E62B}">
      <dgm:prSet/>
      <dgm:spPr/>
      <dgm:t>
        <a:bodyPr/>
        <a:lstStyle/>
        <a:p>
          <a:endParaRPr lang="en-US"/>
        </a:p>
      </dgm:t>
    </dgm:pt>
    <dgm:pt modelId="{71A1FA8C-F5DF-4A6B-91A7-C39374749977}">
      <dgm:prSet phldrT="[Text]" phldr="0"/>
      <dgm:spPr/>
      <dgm:t>
        <a:bodyPr/>
        <a:lstStyle/>
        <a:p>
          <a:r>
            <a:rPr lang="en-US" b="1" dirty="0"/>
            <a:t>Fly-by-wire</a:t>
          </a:r>
        </a:p>
      </dgm:t>
    </dgm:pt>
    <dgm:pt modelId="{0FA0E1B5-DA28-4D2D-91D1-1C90AD562882}" type="parTrans" cxnId="{357A256B-383C-4FE9-825A-84DD0ABDE50D}">
      <dgm:prSet/>
      <dgm:spPr/>
      <dgm:t>
        <a:bodyPr/>
        <a:lstStyle/>
        <a:p>
          <a:endParaRPr lang="en-US"/>
        </a:p>
      </dgm:t>
    </dgm:pt>
    <dgm:pt modelId="{31802F02-F1D6-4D76-B8BA-A1621B46822F}" type="sibTrans" cxnId="{357A256B-383C-4FE9-825A-84DD0ABDE50D}">
      <dgm:prSet/>
      <dgm:spPr/>
      <dgm:t>
        <a:bodyPr/>
        <a:lstStyle/>
        <a:p>
          <a:endParaRPr lang="en-US"/>
        </a:p>
      </dgm:t>
    </dgm:pt>
    <dgm:pt modelId="{10E373FC-3397-46A9-B24C-707B9A5267F3}">
      <dgm:prSet/>
      <dgm:spPr/>
      <dgm:t>
        <a:bodyPr/>
        <a:lstStyle/>
        <a:p>
          <a:r>
            <a:rPr lang="en-US" dirty="0"/>
            <a:t>Cockpit voice recorder</a:t>
          </a:r>
        </a:p>
      </dgm:t>
    </dgm:pt>
    <dgm:pt modelId="{C3DBFE70-AA2B-4E4A-8D4A-06AA7775DCF2}" type="parTrans" cxnId="{283D6237-C94A-4C9C-806A-B2169931F620}">
      <dgm:prSet/>
      <dgm:spPr/>
      <dgm:t>
        <a:bodyPr/>
        <a:lstStyle/>
        <a:p>
          <a:endParaRPr lang="en-US"/>
        </a:p>
      </dgm:t>
    </dgm:pt>
    <dgm:pt modelId="{E5C51D01-8784-477F-9EF3-7B434850DE6F}" type="sibTrans" cxnId="{283D6237-C94A-4C9C-806A-B2169931F620}">
      <dgm:prSet/>
      <dgm:spPr/>
      <dgm:t>
        <a:bodyPr/>
        <a:lstStyle/>
        <a:p>
          <a:endParaRPr lang="en-US"/>
        </a:p>
      </dgm:t>
    </dgm:pt>
    <dgm:pt modelId="{3D1D5964-D917-4351-919F-E3505BF2719A}">
      <dgm:prSet/>
      <dgm:spPr/>
      <dgm:t>
        <a:bodyPr/>
        <a:lstStyle/>
        <a:p>
          <a:r>
            <a:rPr lang="en-US" dirty="0"/>
            <a:t>Used for </a:t>
          </a:r>
          <a:r>
            <a:rPr lang="en-US"/>
            <a:t>safety investigation</a:t>
          </a:r>
          <a:endParaRPr lang="en-US" dirty="0"/>
        </a:p>
      </dgm:t>
    </dgm:pt>
    <dgm:pt modelId="{D7A22527-F00F-4818-975B-B3F9B83FEFF3}" type="parTrans" cxnId="{F2D3D06F-0FD2-4D6C-9F9B-B4B3A5FEFB52}">
      <dgm:prSet/>
      <dgm:spPr/>
      <dgm:t>
        <a:bodyPr/>
        <a:lstStyle/>
        <a:p>
          <a:endParaRPr lang="en-US"/>
        </a:p>
      </dgm:t>
    </dgm:pt>
    <dgm:pt modelId="{75422081-7053-42C5-9336-C8A1EB3DAA89}" type="sibTrans" cxnId="{F2D3D06F-0FD2-4D6C-9F9B-B4B3A5FEFB52}">
      <dgm:prSet/>
      <dgm:spPr/>
      <dgm:t>
        <a:bodyPr/>
        <a:lstStyle/>
        <a:p>
          <a:endParaRPr lang="en-US"/>
        </a:p>
      </dgm:t>
    </dgm:pt>
    <dgm:pt modelId="{77C43CB9-6BB7-4287-9D54-5346E714DAEA}" type="pres">
      <dgm:prSet presAssocID="{702EC18E-14AA-454E-8608-BF3EC96B5652}" presName="Name0" presStyleCnt="0">
        <dgm:presLayoutVars>
          <dgm:dir/>
          <dgm:animLvl val="lvl"/>
          <dgm:resizeHandles val="exact"/>
        </dgm:presLayoutVars>
      </dgm:prSet>
      <dgm:spPr/>
    </dgm:pt>
    <dgm:pt modelId="{50E3EDF2-9E18-4AB9-8D9D-FC986AD01C07}" type="pres">
      <dgm:prSet presAssocID="{5825417D-F846-4A53-86C5-3918286BE4E4}" presName="composite" presStyleCnt="0"/>
      <dgm:spPr/>
    </dgm:pt>
    <dgm:pt modelId="{F7234CF4-508B-497F-9300-1A28A4282E6A}" type="pres">
      <dgm:prSet presAssocID="{5825417D-F846-4A53-86C5-3918286BE4E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31FE2D7-F0B8-407E-856A-D2760A020737}" type="pres">
      <dgm:prSet presAssocID="{5825417D-F846-4A53-86C5-3918286BE4E4}" presName="desTx" presStyleLbl="alignAccFollowNode1" presStyleIdx="0" presStyleCnt="3">
        <dgm:presLayoutVars>
          <dgm:bulletEnabled val="1"/>
        </dgm:presLayoutVars>
      </dgm:prSet>
      <dgm:spPr/>
    </dgm:pt>
    <dgm:pt modelId="{28E74915-5B88-43E7-91B3-E080EA4D6B34}" type="pres">
      <dgm:prSet presAssocID="{F1D364A7-F02B-46FF-9074-546A5C5CA8DC}" presName="space" presStyleCnt="0"/>
      <dgm:spPr/>
    </dgm:pt>
    <dgm:pt modelId="{922AC367-81C2-485E-AF5B-6D12D3CDE8FD}" type="pres">
      <dgm:prSet presAssocID="{71A1FA8C-F5DF-4A6B-91A7-C39374749977}" presName="composite" presStyleCnt="0"/>
      <dgm:spPr/>
    </dgm:pt>
    <dgm:pt modelId="{5966566B-765D-44A8-B9D3-161370C968E4}" type="pres">
      <dgm:prSet presAssocID="{71A1FA8C-F5DF-4A6B-91A7-C3937474997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F938CA4-C664-4383-B930-6BD509205AF5}" type="pres">
      <dgm:prSet presAssocID="{71A1FA8C-F5DF-4A6B-91A7-C39374749977}" presName="desTx" presStyleLbl="alignAccFollowNode1" presStyleIdx="1" presStyleCnt="3">
        <dgm:presLayoutVars>
          <dgm:bulletEnabled val="1"/>
        </dgm:presLayoutVars>
      </dgm:prSet>
      <dgm:spPr/>
    </dgm:pt>
    <dgm:pt modelId="{A6E3D5D1-CEC1-4056-A42E-212E24D6461B}" type="pres">
      <dgm:prSet presAssocID="{31802F02-F1D6-4D76-B8BA-A1621B46822F}" presName="space" presStyleCnt="0"/>
      <dgm:spPr/>
    </dgm:pt>
    <dgm:pt modelId="{4EF3568A-D74F-4415-83BF-F52DC3CE5D73}" type="pres">
      <dgm:prSet presAssocID="{BBB3A9BF-B471-4229-99C8-75B5853F6548}" presName="composite" presStyleCnt="0"/>
      <dgm:spPr/>
    </dgm:pt>
    <dgm:pt modelId="{B9785D42-104C-470B-96CA-4327F60C8C62}" type="pres">
      <dgm:prSet presAssocID="{BBB3A9BF-B471-4229-99C8-75B5853F654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DAD6AD4-13E3-4128-B4B7-8C7809B9457B}" type="pres">
      <dgm:prSet presAssocID="{BBB3A9BF-B471-4229-99C8-75B5853F654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7654B0B-82A2-4794-BA73-A9EE2C480E51}" srcId="{5825417D-F846-4A53-86C5-3918286BE4E4}" destId="{7C511CC0-EC62-4DD0-A454-4DD5AB2E1A92}" srcOrd="2" destOrd="0" parTransId="{3A70BCFC-6AE7-4C79-8908-E7B6DC294F93}" sibTransId="{D7536778-778F-481F-AA25-2ADCC65166EA}"/>
    <dgm:cxn modelId="{5E3AE20D-61E6-4360-958A-C02CFDA6377D}" type="presOf" srcId="{10E373FC-3397-46A9-B24C-707B9A5267F3}" destId="{BDAD6AD4-13E3-4128-B4B7-8C7809B9457B}" srcOrd="0" destOrd="1" presId="urn:microsoft.com/office/officeart/2005/8/layout/hList1"/>
    <dgm:cxn modelId="{C73BB80E-E49D-4556-B8F8-0F1BC1FC0279}" srcId="{71A1FA8C-F5DF-4A6B-91A7-C39374749977}" destId="{7E00A081-E321-4452-942F-425217EC70BA}" srcOrd="1" destOrd="0" parTransId="{FE85DCD8-36D0-49BA-B8C3-615865E21114}" sibTransId="{FC2BB7BF-5084-4092-9500-3087EEED9567}"/>
    <dgm:cxn modelId="{17DB7633-3615-4799-8CF4-E8D0A0743FA5}" srcId="{BBB3A9BF-B471-4229-99C8-75B5853F6548}" destId="{66EE27A3-575D-4344-9DBF-455F95FD01FD}" srcOrd="0" destOrd="0" parTransId="{79FECF37-CEEC-4072-960B-AD6C24354A18}" sibTransId="{BD5D0355-25C6-4F1F-ADE8-34534EC64EE7}"/>
    <dgm:cxn modelId="{283D6237-C94A-4C9C-806A-B2169931F620}" srcId="{BBB3A9BF-B471-4229-99C8-75B5853F6548}" destId="{10E373FC-3397-46A9-B24C-707B9A5267F3}" srcOrd="1" destOrd="0" parTransId="{C3DBFE70-AA2B-4E4A-8D4A-06AA7775DCF2}" sibTransId="{E5C51D01-8784-477F-9EF3-7B434850DE6F}"/>
    <dgm:cxn modelId="{E53EAA3D-9DF6-4D8F-82EA-88313A6B0A1E}" type="presOf" srcId="{0CA6F981-0618-4EB3-BC4C-C68238C2D4A3}" destId="{6F938CA4-C664-4383-B930-6BD509205AF5}" srcOrd="0" destOrd="2" presId="urn:microsoft.com/office/officeart/2005/8/layout/hList1"/>
    <dgm:cxn modelId="{357A256B-383C-4FE9-825A-84DD0ABDE50D}" srcId="{702EC18E-14AA-454E-8608-BF3EC96B5652}" destId="{71A1FA8C-F5DF-4A6B-91A7-C39374749977}" srcOrd="1" destOrd="0" parTransId="{0FA0E1B5-DA28-4D2D-91D1-1C90AD562882}" sibTransId="{31802F02-F1D6-4D76-B8BA-A1621B46822F}"/>
    <dgm:cxn modelId="{2791C64B-9ED2-48C1-B181-9A6072FA6C5F}" type="presOf" srcId="{BBB3A9BF-B471-4229-99C8-75B5853F6548}" destId="{B9785D42-104C-470B-96CA-4327F60C8C62}" srcOrd="0" destOrd="0" presId="urn:microsoft.com/office/officeart/2005/8/layout/hList1"/>
    <dgm:cxn modelId="{DC83FD6B-8117-4658-837E-E777C6AEBFEB}" srcId="{702EC18E-14AA-454E-8608-BF3EC96B5652}" destId="{BBB3A9BF-B471-4229-99C8-75B5853F6548}" srcOrd="2" destOrd="0" parTransId="{DEF25A31-68BF-4A44-B1FC-0D75F77ED07C}" sibTransId="{6F561A3B-521F-4A12-9322-185F889A2592}"/>
    <dgm:cxn modelId="{C6CF574E-4BB1-4484-BE4D-F2DE6FBDB3BE}" type="presOf" srcId="{7C511CC0-EC62-4DD0-A454-4DD5AB2E1A92}" destId="{331FE2D7-F0B8-407E-856A-D2760A020737}" srcOrd="0" destOrd="2" presId="urn:microsoft.com/office/officeart/2005/8/layout/hList1"/>
    <dgm:cxn modelId="{B580854E-D3F5-4FA6-A0BA-9BB3A18A493F}" type="presOf" srcId="{52D87AD6-37EE-43C8-A75A-DCE66B8C31ED}" destId="{331FE2D7-F0B8-407E-856A-D2760A020737}" srcOrd="0" destOrd="0" presId="urn:microsoft.com/office/officeart/2005/8/layout/hList1"/>
    <dgm:cxn modelId="{F2D3D06F-0FD2-4D6C-9F9B-B4B3A5FEFB52}" srcId="{BBB3A9BF-B471-4229-99C8-75B5853F6548}" destId="{3D1D5964-D917-4351-919F-E3505BF2719A}" srcOrd="2" destOrd="0" parTransId="{D7A22527-F00F-4818-975B-B3F9B83FEFF3}" sibTransId="{75422081-7053-42C5-9336-C8A1EB3DAA89}"/>
    <dgm:cxn modelId="{B8F17A72-52C1-47A4-855E-8F931AFC8014}" type="presOf" srcId="{71A1FA8C-F5DF-4A6B-91A7-C39374749977}" destId="{5966566B-765D-44A8-B9D3-161370C968E4}" srcOrd="0" destOrd="0" presId="urn:microsoft.com/office/officeart/2005/8/layout/hList1"/>
    <dgm:cxn modelId="{E168AB52-A22A-48FB-92F6-F8785C132773}" srcId="{702EC18E-14AA-454E-8608-BF3EC96B5652}" destId="{5825417D-F846-4A53-86C5-3918286BE4E4}" srcOrd="0" destOrd="0" parTransId="{442B415E-8C55-40B8-BDBA-6FB68FBB1C6D}" sibTransId="{F1D364A7-F02B-46FF-9074-546A5C5CA8DC}"/>
    <dgm:cxn modelId="{8BF32E8A-D43A-4098-8182-91A22FF27009}" srcId="{5825417D-F846-4A53-86C5-3918286BE4E4}" destId="{E9FC2C5A-61A9-411F-9722-C6F9858A4D8C}" srcOrd="1" destOrd="0" parTransId="{B79BFAE9-0F48-4D21-803F-87B103AE6CD7}" sibTransId="{9295A3F6-54D5-4C44-B24F-E1E735ABC230}"/>
    <dgm:cxn modelId="{6106F794-1A8D-4F77-AA54-2306766C3146}" type="presOf" srcId="{22750431-31EA-40DA-B44C-273BDF56F350}" destId="{6F938CA4-C664-4383-B930-6BD509205AF5}" srcOrd="0" destOrd="0" presId="urn:microsoft.com/office/officeart/2005/8/layout/hList1"/>
    <dgm:cxn modelId="{F8CC2FA6-76E8-4BD8-9005-F4130803419A}" type="presOf" srcId="{702EC18E-14AA-454E-8608-BF3EC96B5652}" destId="{77C43CB9-6BB7-4287-9D54-5346E714DAEA}" srcOrd="0" destOrd="0" presId="urn:microsoft.com/office/officeart/2005/8/layout/hList1"/>
    <dgm:cxn modelId="{B9746AAA-53A6-4879-ABB1-2D1FF3C8EC8C}" srcId="{71A1FA8C-F5DF-4A6B-91A7-C39374749977}" destId="{22750431-31EA-40DA-B44C-273BDF56F350}" srcOrd="0" destOrd="0" parTransId="{48C06B20-921C-41AA-96DC-EA44B869827F}" sibTransId="{84292D6C-85E0-4CF0-9EFD-96E0EF3D4725}"/>
    <dgm:cxn modelId="{ACC203AB-2DEA-4655-8569-6B87BB6A6B99}" type="presOf" srcId="{3D1D5964-D917-4351-919F-E3505BF2719A}" destId="{BDAD6AD4-13E3-4128-B4B7-8C7809B9457B}" srcOrd="0" destOrd="2" presId="urn:microsoft.com/office/officeart/2005/8/layout/hList1"/>
    <dgm:cxn modelId="{7517FBBC-356E-4673-88B8-AB4ABC034372}" type="presOf" srcId="{7E00A081-E321-4452-942F-425217EC70BA}" destId="{6F938CA4-C664-4383-B930-6BD509205AF5}" srcOrd="0" destOrd="1" presId="urn:microsoft.com/office/officeart/2005/8/layout/hList1"/>
    <dgm:cxn modelId="{4CFAF3C9-7F43-481A-B46F-5E0AB4ADBCBB}" srcId="{5825417D-F846-4A53-86C5-3918286BE4E4}" destId="{52D87AD6-37EE-43C8-A75A-DCE66B8C31ED}" srcOrd="0" destOrd="0" parTransId="{5B90B145-A972-4EFE-8135-32D6C2A92196}" sibTransId="{30114B69-81C7-4BE4-A0D5-7BB6CB0880F3}"/>
    <dgm:cxn modelId="{33B223CD-87F8-4A3B-AC3F-9C1CDA33DD75}" type="presOf" srcId="{E9FC2C5A-61A9-411F-9722-C6F9858A4D8C}" destId="{331FE2D7-F0B8-407E-856A-D2760A020737}" srcOrd="0" destOrd="1" presId="urn:microsoft.com/office/officeart/2005/8/layout/hList1"/>
    <dgm:cxn modelId="{432BB3D5-6CAC-4EB4-A98B-DA76FBD7E62B}" srcId="{71A1FA8C-F5DF-4A6B-91A7-C39374749977}" destId="{0CA6F981-0618-4EB3-BC4C-C68238C2D4A3}" srcOrd="2" destOrd="0" parTransId="{579CD29C-63DF-415B-AE41-11798F6424D5}" sibTransId="{D33B7FF1-BFD2-4FBE-9D78-63AB3EA3CAC0}"/>
    <dgm:cxn modelId="{E1BD7CD6-9BE9-42B2-BD80-DBF5BA053247}" type="presOf" srcId="{66EE27A3-575D-4344-9DBF-455F95FD01FD}" destId="{BDAD6AD4-13E3-4128-B4B7-8C7809B9457B}" srcOrd="0" destOrd="0" presId="urn:microsoft.com/office/officeart/2005/8/layout/hList1"/>
    <dgm:cxn modelId="{9952CCD6-8636-4635-8752-F4B42C18C56E}" type="presOf" srcId="{5825417D-F846-4A53-86C5-3918286BE4E4}" destId="{F7234CF4-508B-497F-9300-1A28A4282E6A}" srcOrd="0" destOrd="0" presId="urn:microsoft.com/office/officeart/2005/8/layout/hList1"/>
    <dgm:cxn modelId="{D428E164-D07C-4388-87F4-6210C52BF1CF}" type="presParOf" srcId="{77C43CB9-6BB7-4287-9D54-5346E714DAEA}" destId="{50E3EDF2-9E18-4AB9-8D9D-FC986AD01C07}" srcOrd="0" destOrd="0" presId="urn:microsoft.com/office/officeart/2005/8/layout/hList1"/>
    <dgm:cxn modelId="{CBC784E7-FCE6-40C2-B6A3-B1E6C750B79C}" type="presParOf" srcId="{50E3EDF2-9E18-4AB9-8D9D-FC986AD01C07}" destId="{F7234CF4-508B-497F-9300-1A28A4282E6A}" srcOrd="0" destOrd="0" presId="urn:microsoft.com/office/officeart/2005/8/layout/hList1"/>
    <dgm:cxn modelId="{DB918925-2355-4FB7-A067-0731A9963D9D}" type="presParOf" srcId="{50E3EDF2-9E18-4AB9-8D9D-FC986AD01C07}" destId="{331FE2D7-F0B8-407E-856A-D2760A020737}" srcOrd="1" destOrd="0" presId="urn:microsoft.com/office/officeart/2005/8/layout/hList1"/>
    <dgm:cxn modelId="{0C4EFF3F-E342-4F5D-91AE-A21311155600}" type="presParOf" srcId="{77C43CB9-6BB7-4287-9D54-5346E714DAEA}" destId="{28E74915-5B88-43E7-91B3-E080EA4D6B34}" srcOrd="1" destOrd="0" presId="urn:microsoft.com/office/officeart/2005/8/layout/hList1"/>
    <dgm:cxn modelId="{3240E54D-A4AE-4B4C-8078-110466651662}" type="presParOf" srcId="{77C43CB9-6BB7-4287-9D54-5346E714DAEA}" destId="{922AC367-81C2-485E-AF5B-6D12D3CDE8FD}" srcOrd="2" destOrd="0" presId="urn:microsoft.com/office/officeart/2005/8/layout/hList1"/>
    <dgm:cxn modelId="{37FF8735-1597-4392-83F7-4FDC3D9705A3}" type="presParOf" srcId="{922AC367-81C2-485E-AF5B-6D12D3CDE8FD}" destId="{5966566B-765D-44A8-B9D3-161370C968E4}" srcOrd="0" destOrd="0" presId="urn:microsoft.com/office/officeart/2005/8/layout/hList1"/>
    <dgm:cxn modelId="{7A2ED129-A98E-48FF-AFB8-B61AD207143C}" type="presParOf" srcId="{922AC367-81C2-485E-AF5B-6D12D3CDE8FD}" destId="{6F938CA4-C664-4383-B930-6BD509205AF5}" srcOrd="1" destOrd="0" presId="urn:microsoft.com/office/officeart/2005/8/layout/hList1"/>
    <dgm:cxn modelId="{25B9719E-521C-4281-B28A-5C219EBFAA65}" type="presParOf" srcId="{77C43CB9-6BB7-4287-9D54-5346E714DAEA}" destId="{A6E3D5D1-CEC1-4056-A42E-212E24D6461B}" srcOrd="3" destOrd="0" presId="urn:microsoft.com/office/officeart/2005/8/layout/hList1"/>
    <dgm:cxn modelId="{E7333CD6-F633-40E8-B80F-393E3F54BC55}" type="presParOf" srcId="{77C43CB9-6BB7-4287-9D54-5346E714DAEA}" destId="{4EF3568A-D74F-4415-83BF-F52DC3CE5D73}" srcOrd="4" destOrd="0" presId="urn:microsoft.com/office/officeart/2005/8/layout/hList1"/>
    <dgm:cxn modelId="{6B5E278F-5E2D-4BC7-A1F1-2A59CC465CE8}" type="presParOf" srcId="{4EF3568A-D74F-4415-83BF-F52DC3CE5D73}" destId="{B9785D42-104C-470B-96CA-4327F60C8C62}" srcOrd="0" destOrd="0" presId="urn:microsoft.com/office/officeart/2005/8/layout/hList1"/>
    <dgm:cxn modelId="{35486901-7FA2-455C-905F-3CCC59F18599}" type="presParOf" srcId="{4EF3568A-D74F-4415-83BF-F52DC3CE5D73}" destId="{BDAD6AD4-13E3-4128-B4B7-8C7809B9457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34CF4-508B-497F-9300-1A28A4282E6A}">
      <dsp:nvSpPr>
        <dsp:cNvPr id="0" name=""/>
        <dsp:cNvSpPr/>
      </dsp:nvSpPr>
      <dsp:spPr>
        <a:xfrm>
          <a:off x="2870" y="114741"/>
          <a:ext cx="2799044" cy="518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Glass cockpit</a:t>
          </a:r>
        </a:p>
      </dsp:txBody>
      <dsp:txXfrm>
        <a:off x="2870" y="114741"/>
        <a:ext cx="2799044" cy="518400"/>
      </dsp:txXfrm>
    </dsp:sp>
    <dsp:sp modelId="{331FE2D7-F0B8-407E-856A-D2760A020737}">
      <dsp:nvSpPr>
        <dsp:cNvPr id="0" name=""/>
        <dsp:cNvSpPr/>
      </dsp:nvSpPr>
      <dsp:spPr>
        <a:xfrm>
          <a:off x="2870" y="633141"/>
          <a:ext cx="2799044" cy="1828169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Digital screens replace many dials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Clear flight and navigation information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Helps pilots detect issues faster</a:t>
          </a:r>
        </a:p>
      </dsp:txBody>
      <dsp:txXfrm>
        <a:off x="2870" y="633141"/>
        <a:ext cx="2799044" cy="1828169"/>
      </dsp:txXfrm>
    </dsp:sp>
    <dsp:sp modelId="{5966566B-765D-44A8-B9D3-161370C968E4}">
      <dsp:nvSpPr>
        <dsp:cNvPr id="0" name=""/>
        <dsp:cNvSpPr/>
      </dsp:nvSpPr>
      <dsp:spPr>
        <a:xfrm>
          <a:off x="3193780" y="114741"/>
          <a:ext cx="2799044" cy="518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Fly-by-wire</a:t>
          </a:r>
        </a:p>
      </dsp:txBody>
      <dsp:txXfrm>
        <a:off x="3193780" y="114741"/>
        <a:ext cx="2799044" cy="518400"/>
      </dsp:txXfrm>
    </dsp:sp>
    <dsp:sp modelId="{6F938CA4-C664-4383-B930-6BD509205AF5}">
      <dsp:nvSpPr>
        <dsp:cNvPr id="0" name=""/>
        <dsp:cNvSpPr/>
      </dsp:nvSpPr>
      <dsp:spPr>
        <a:xfrm>
          <a:off x="3193780" y="633141"/>
          <a:ext cx="2799044" cy="1828169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Pilot inputs become electrical signals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Flight control computers assist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Limits extreme commands</a:t>
          </a:r>
        </a:p>
      </dsp:txBody>
      <dsp:txXfrm>
        <a:off x="3193780" y="633141"/>
        <a:ext cx="2799044" cy="1828169"/>
      </dsp:txXfrm>
    </dsp:sp>
    <dsp:sp modelId="{B9785D42-104C-470B-96CA-4327F60C8C62}">
      <dsp:nvSpPr>
        <dsp:cNvPr id="0" name=""/>
        <dsp:cNvSpPr/>
      </dsp:nvSpPr>
      <dsp:spPr>
        <a:xfrm>
          <a:off x="6384691" y="114741"/>
          <a:ext cx="2799044" cy="518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Recorders</a:t>
          </a:r>
        </a:p>
      </dsp:txBody>
      <dsp:txXfrm>
        <a:off x="6384691" y="114741"/>
        <a:ext cx="2799044" cy="518400"/>
      </dsp:txXfrm>
    </dsp:sp>
    <dsp:sp modelId="{BDAD6AD4-13E3-4128-B4B7-8C7809B9457B}">
      <dsp:nvSpPr>
        <dsp:cNvPr id="0" name=""/>
        <dsp:cNvSpPr/>
      </dsp:nvSpPr>
      <dsp:spPr>
        <a:xfrm>
          <a:off x="6384691" y="633141"/>
          <a:ext cx="2799044" cy="1828169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Flight-data recorder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Cockpit voice recorder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Used for </a:t>
          </a:r>
          <a:r>
            <a:rPr lang="en-US" sz="1800" kern="1200"/>
            <a:t>safety investigation</a:t>
          </a:r>
          <a:endParaRPr lang="en-US" sz="1800" kern="1200" dirty="0"/>
        </a:p>
      </dsp:txBody>
      <dsp:txXfrm>
        <a:off x="6384691" y="633141"/>
        <a:ext cx="2799044" cy="1828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1010" y="1975103"/>
            <a:ext cx="5120639" cy="290779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Role of Information Technology in Airline Business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4D4D935-7ED4-C21E-6C85-8AA834E26B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5595539"/>
            <a:ext cx="5120640" cy="126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Student’s Name</a:t>
            </a:r>
          </a:p>
          <a:p>
            <a:pPr algn="l"/>
            <a:r>
              <a:rPr lang="en-US" sz="1400" dirty="0"/>
              <a:t>Student ID</a:t>
            </a:r>
          </a:p>
          <a:p>
            <a:pPr algn="l"/>
            <a:r>
              <a:rPr lang="en-US" sz="1400" dirty="0"/>
              <a:t>Introduction to Information Technology (GEN1030)</a:t>
            </a:r>
          </a:p>
          <a:p>
            <a:pPr algn="l"/>
            <a:r>
              <a:rPr lang="en-US" sz="1400" dirty="0"/>
              <a:t>Due Date</a:t>
            </a:r>
          </a:p>
          <a:p>
            <a:pPr algn="l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65EB-8550-D1F5-DB3B-09498F4F1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8258"/>
            <a:ext cx="10058400" cy="914400"/>
          </a:xfrm>
        </p:spPr>
        <p:txBody>
          <a:bodyPr/>
          <a:lstStyle/>
          <a:p>
            <a:pPr algn="ctr"/>
            <a:r>
              <a:rPr lang="en-US" b="1" dirty="0"/>
              <a:t>Why IT matters in airlines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135AE-01BA-0EA6-EE4A-E20D3775C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09135"/>
            <a:ext cx="10058400" cy="4173106"/>
          </a:xfrm>
        </p:spPr>
        <p:txBody>
          <a:bodyPr>
            <a:normAutofit/>
          </a:bodyPr>
          <a:lstStyle/>
          <a:p>
            <a:r>
              <a:rPr lang="en-US" dirty="0"/>
              <a:t>Airlines use IT to sell tickets, plan flights, manage airports, support pilots, and keep passengers safe.</a:t>
            </a:r>
          </a:p>
          <a:p>
            <a:r>
              <a:rPr lang="en-US" dirty="0"/>
              <a:t>IT connects the full passenger journey (before, during, and after the flight).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Main systems passengers use</a:t>
            </a:r>
          </a:p>
          <a:p>
            <a:pPr>
              <a:buFont typeface="Avenir Next LT Pro" panose="020B0504020202020204" pitchFamily="34" charset="0"/>
              <a:buChar char="◊"/>
            </a:pPr>
            <a:r>
              <a:rPr lang="en-US" dirty="0"/>
              <a:t>Airline website / mobile app</a:t>
            </a:r>
          </a:p>
          <a:p>
            <a:pPr>
              <a:buFont typeface="Avenir Next LT Pro" panose="020B0504020202020204" pitchFamily="34" charset="0"/>
              <a:buChar char="◊"/>
            </a:pPr>
            <a:r>
              <a:rPr lang="en-US" dirty="0"/>
              <a:t>Online payment</a:t>
            </a:r>
          </a:p>
          <a:p>
            <a:pPr>
              <a:buFont typeface="Avenir Next LT Pro" panose="020B0504020202020204" pitchFamily="34" charset="0"/>
              <a:buChar char="◊"/>
            </a:pPr>
            <a:r>
              <a:rPr lang="en-US" dirty="0"/>
              <a:t>Digital boarding pass</a:t>
            </a:r>
          </a:p>
          <a:p>
            <a:pPr>
              <a:buFont typeface="Avenir Next LT Pro" panose="020B0504020202020204" pitchFamily="34" charset="0"/>
              <a:buChar char="◊"/>
            </a:pPr>
            <a:r>
              <a:rPr lang="en-US" dirty="0"/>
              <a:t>Real-time flight updates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891BBE-F46B-F271-C1C7-BBEA084AB3E1}"/>
              </a:ext>
            </a:extLst>
          </p:cNvPr>
          <p:cNvGrpSpPr/>
          <p:nvPr/>
        </p:nvGrpSpPr>
        <p:grpSpPr>
          <a:xfrm>
            <a:off x="1066800" y="2764973"/>
            <a:ext cx="9847007" cy="523568"/>
            <a:chOff x="1455173" y="2812026"/>
            <a:chExt cx="9847007" cy="5235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F464EDB-6622-00AC-7F9B-329627701622}"/>
                </a:ext>
              </a:extLst>
            </p:cNvPr>
            <p:cNvGrpSpPr/>
            <p:nvPr/>
          </p:nvGrpSpPr>
          <p:grpSpPr>
            <a:xfrm>
              <a:off x="1455173" y="2812026"/>
              <a:ext cx="9847007" cy="523568"/>
              <a:chOff x="731520" y="1417320"/>
              <a:chExt cx="10698480" cy="6400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93BAE8C0-4E66-3939-1B00-D510E3E1AC13}"/>
                  </a:ext>
                </a:extLst>
              </p:cNvPr>
              <p:cNvGrpSpPr/>
              <p:nvPr/>
            </p:nvGrpSpPr>
            <p:grpSpPr>
              <a:xfrm>
                <a:off x="731520" y="1417320"/>
                <a:ext cx="1554480" cy="640080"/>
                <a:chOff x="731520" y="1417320"/>
                <a:chExt cx="1554480" cy="640080"/>
              </a:xfrm>
            </p:grpSpPr>
            <p:sp>
              <p:nvSpPr>
                <p:cNvPr id="20" name="Shape 3">
                  <a:extLst>
                    <a:ext uri="{FF2B5EF4-FFF2-40B4-BE49-F238E27FC236}">
                      <a16:creationId xmlns:a16="http://schemas.microsoft.com/office/drawing/2014/main" id="{C97D9999-CFB9-C28E-BFD4-A7148C3414A4}"/>
                    </a:ext>
                  </a:extLst>
                </p:cNvPr>
                <p:cNvSpPr/>
                <p:nvPr/>
              </p:nvSpPr>
              <p:spPr>
                <a:xfrm>
                  <a:off x="731520" y="1417320"/>
                  <a:ext cx="1554480" cy="640080"/>
                </a:xfrm>
                <a:prstGeom prst="roundRect">
                  <a:avLst/>
                </a:prstGeom>
                <a:solidFill>
                  <a:srgbClr val="0070C0"/>
                </a:solidFill>
                <a:ln w="1270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</p:spPr>
            </p:sp>
            <p:sp>
              <p:nvSpPr>
                <p:cNvPr id="21" name="Text 4">
                  <a:extLst>
                    <a:ext uri="{FF2B5EF4-FFF2-40B4-BE49-F238E27FC236}">
                      <a16:creationId xmlns:a16="http://schemas.microsoft.com/office/drawing/2014/main" id="{D7BF6014-2098-6421-FCD2-62D06C2B109D}"/>
                    </a:ext>
                  </a:extLst>
                </p:cNvPr>
                <p:cNvSpPr/>
                <p:nvPr/>
              </p:nvSpPr>
              <p:spPr>
                <a:xfrm>
                  <a:off x="731520" y="1554480"/>
                  <a:ext cx="15544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Search</a:t>
                  </a:r>
                  <a:endParaRPr lang="en-US" sz="1200" dirty="0"/>
                </a:p>
              </p:txBody>
            </p:sp>
          </p:grpSp>
          <p:sp>
            <p:nvSpPr>
              <p:cNvPr id="6" name="Shape 5">
                <a:extLst>
                  <a:ext uri="{FF2B5EF4-FFF2-40B4-BE49-F238E27FC236}">
                    <a16:creationId xmlns:a16="http://schemas.microsoft.com/office/drawing/2014/main" id="{A1326010-AC1D-812F-1E46-B2D87469155B}"/>
                  </a:ext>
                </a:extLst>
              </p:cNvPr>
              <p:cNvSpPr/>
              <p:nvPr/>
            </p:nvSpPr>
            <p:spPr>
              <a:xfrm>
                <a:off x="2286000" y="1737360"/>
                <a:ext cx="274320" cy="0"/>
              </a:xfrm>
              <a:prstGeom prst="line">
                <a:avLst/>
              </a:prstGeom>
              <a:noFill/>
              <a:ln w="3810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headEnd type="none"/>
                <a:tailEnd type="triangle"/>
              </a:ln>
            </p:spPr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FD76768-6363-3B25-8702-4335FA913C3D}"/>
                  </a:ext>
                </a:extLst>
              </p:cNvPr>
              <p:cNvGrpSpPr/>
              <p:nvPr/>
            </p:nvGrpSpPr>
            <p:grpSpPr>
              <a:xfrm>
                <a:off x="2560320" y="1417320"/>
                <a:ext cx="7040880" cy="640080"/>
                <a:chOff x="2560320" y="1417320"/>
                <a:chExt cx="7040880" cy="640080"/>
              </a:xfrm>
            </p:grpSpPr>
            <p:sp>
              <p:nvSpPr>
                <p:cNvPr id="12" name="Shape 6">
                  <a:extLst>
                    <a:ext uri="{FF2B5EF4-FFF2-40B4-BE49-F238E27FC236}">
                      <a16:creationId xmlns:a16="http://schemas.microsoft.com/office/drawing/2014/main" id="{68820976-CD42-5190-E54F-218F7E07E3AF}"/>
                    </a:ext>
                  </a:extLst>
                </p:cNvPr>
                <p:cNvSpPr/>
                <p:nvPr/>
              </p:nvSpPr>
              <p:spPr>
                <a:xfrm>
                  <a:off x="2560320" y="1417320"/>
                  <a:ext cx="1554480" cy="640080"/>
                </a:xfrm>
                <a:prstGeom prst="roundRect">
                  <a:avLst/>
                </a:prstGeom>
                <a:solidFill>
                  <a:srgbClr val="0070C0"/>
                </a:solidFill>
                <a:ln w="1270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</p:spPr>
            </p:sp>
            <p:sp>
              <p:nvSpPr>
                <p:cNvPr id="13" name="Text 7">
                  <a:extLst>
                    <a:ext uri="{FF2B5EF4-FFF2-40B4-BE49-F238E27FC236}">
                      <a16:creationId xmlns:a16="http://schemas.microsoft.com/office/drawing/2014/main" id="{C15E1761-77D7-1738-EBC5-3339F401F692}"/>
                    </a:ext>
                  </a:extLst>
                </p:cNvPr>
                <p:cNvSpPr/>
                <p:nvPr/>
              </p:nvSpPr>
              <p:spPr>
                <a:xfrm>
                  <a:off x="2560320" y="1554480"/>
                  <a:ext cx="15544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Book</a:t>
                  </a:r>
                  <a:endParaRPr lang="en-US" sz="1200" dirty="0"/>
                </a:p>
              </p:txBody>
            </p:sp>
            <p:sp>
              <p:nvSpPr>
                <p:cNvPr id="14" name="Shape 9">
                  <a:extLst>
                    <a:ext uri="{FF2B5EF4-FFF2-40B4-BE49-F238E27FC236}">
                      <a16:creationId xmlns:a16="http://schemas.microsoft.com/office/drawing/2014/main" id="{E2F61857-E480-8A31-4B84-93F35037ABC6}"/>
                    </a:ext>
                  </a:extLst>
                </p:cNvPr>
                <p:cNvSpPr/>
                <p:nvPr/>
              </p:nvSpPr>
              <p:spPr>
                <a:xfrm>
                  <a:off x="4389120" y="1417320"/>
                  <a:ext cx="1554480" cy="640080"/>
                </a:xfrm>
                <a:prstGeom prst="roundRect">
                  <a:avLst/>
                </a:prstGeom>
                <a:solidFill>
                  <a:srgbClr val="0070C0"/>
                </a:solidFill>
                <a:ln w="1270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</p:spPr>
            </p:sp>
            <p:sp>
              <p:nvSpPr>
                <p:cNvPr id="15" name="Text 10">
                  <a:extLst>
                    <a:ext uri="{FF2B5EF4-FFF2-40B4-BE49-F238E27FC236}">
                      <a16:creationId xmlns:a16="http://schemas.microsoft.com/office/drawing/2014/main" id="{0D13B03C-500B-EFB6-226A-1313CE793876}"/>
                    </a:ext>
                  </a:extLst>
                </p:cNvPr>
                <p:cNvSpPr/>
                <p:nvPr/>
              </p:nvSpPr>
              <p:spPr>
                <a:xfrm>
                  <a:off x="4389120" y="1554480"/>
                  <a:ext cx="15544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Pay</a:t>
                  </a:r>
                  <a:endParaRPr lang="en-US" sz="1200" dirty="0"/>
                </a:p>
              </p:txBody>
            </p:sp>
            <p:sp>
              <p:nvSpPr>
                <p:cNvPr id="16" name="Shape 12">
                  <a:extLst>
                    <a:ext uri="{FF2B5EF4-FFF2-40B4-BE49-F238E27FC236}">
                      <a16:creationId xmlns:a16="http://schemas.microsoft.com/office/drawing/2014/main" id="{F8AFFAC3-63B6-54BB-00ED-EF8AFF0009AC}"/>
                    </a:ext>
                  </a:extLst>
                </p:cNvPr>
                <p:cNvSpPr/>
                <p:nvPr/>
              </p:nvSpPr>
              <p:spPr>
                <a:xfrm>
                  <a:off x="6217920" y="1417320"/>
                  <a:ext cx="1554480" cy="640080"/>
                </a:xfrm>
                <a:prstGeom prst="roundRect">
                  <a:avLst/>
                </a:prstGeom>
                <a:solidFill>
                  <a:srgbClr val="0070C0"/>
                </a:solidFill>
                <a:ln w="1270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</p:spPr>
            </p:sp>
            <p:sp>
              <p:nvSpPr>
                <p:cNvPr id="17" name="Text 13">
                  <a:extLst>
                    <a:ext uri="{FF2B5EF4-FFF2-40B4-BE49-F238E27FC236}">
                      <a16:creationId xmlns:a16="http://schemas.microsoft.com/office/drawing/2014/main" id="{A9F985A1-6592-BDA9-816B-14535F2E445E}"/>
                    </a:ext>
                  </a:extLst>
                </p:cNvPr>
                <p:cNvSpPr/>
                <p:nvPr/>
              </p:nvSpPr>
              <p:spPr>
                <a:xfrm>
                  <a:off x="6217920" y="1554480"/>
                  <a:ext cx="15544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Check-in</a:t>
                  </a:r>
                  <a:endParaRPr lang="en-US" sz="1200" dirty="0"/>
                </a:p>
              </p:txBody>
            </p:sp>
            <p:sp>
              <p:nvSpPr>
                <p:cNvPr id="18" name="Shape 15">
                  <a:extLst>
                    <a:ext uri="{FF2B5EF4-FFF2-40B4-BE49-F238E27FC236}">
                      <a16:creationId xmlns:a16="http://schemas.microsoft.com/office/drawing/2014/main" id="{21E3CFEF-3969-4DB3-C1E8-2255431D8BFF}"/>
                    </a:ext>
                  </a:extLst>
                </p:cNvPr>
                <p:cNvSpPr/>
                <p:nvPr/>
              </p:nvSpPr>
              <p:spPr>
                <a:xfrm>
                  <a:off x="8046720" y="1417320"/>
                  <a:ext cx="1554480" cy="640080"/>
                </a:xfrm>
                <a:prstGeom prst="roundRect">
                  <a:avLst/>
                </a:prstGeom>
                <a:solidFill>
                  <a:srgbClr val="0070C0"/>
                </a:solidFill>
                <a:ln w="12700">
                  <a:solidFill>
                    <a:srgbClr val="16A34A"/>
                  </a:solidFill>
                  <a:prstDash val="solid"/>
                </a:ln>
              </p:spPr>
            </p:sp>
            <p:sp>
              <p:nvSpPr>
                <p:cNvPr id="19" name="Text 16">
                  <a:extLst>
                    <a:ext uri="{FF2B5EF4-FFF2-40B4-BE49-F238E27FC236}">
                      <a16:creationId xmlns:a16="http://schemas.microsoft.com/office/drawing/2014/main" id="{B4331BAB-7567-D532-EAA1-A2800ACAE8DD}"/>
                    </a:ext>
                  </a:extLst>
                </p:cNvPr>
                <p:cNvSpPr/>
                <p:nvPr/>
              </p:nvSpPr>
              <p:spPr>
                <a:xfrm>
                  <a:off x="8046720" y="1554480"/>
                  <a:ext cx="15544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Board</a:t>
                  </a:r>
                  <a:endParaRPr lang="en-US" sz="1200" dirty="0"/>
                </a:p>
              </p:txBody>
            </p:sp>
          </p:grpSp>
          <p:sp>
            <p:nvSpPr>
              <p:cNvPr id="8" name="Shape 17">
                <a:extLst>
                  <a:ext uri="{FF2B5EF4-FFF2-40B4-BE49-F238E27FC236}">
                    <a16:creationId xmlns:a16="http://schemas.microsoft.com/office/drawing/2014/main" id="{4AAD0709-F980-2681-7D5B-7347E28929BF}"/>
                  </a:ext>
                </a:extLst>
              </p:cNvPr>
              <p:cNvSpPr/>
              <p:nvPr/>
            </p:nvSpPr>
            <p:spPr>
              <a:xfrm>
                <a:off x="9601200" y="1737360"/>
                <a:ext cx="274320" cy="0"/>
              </a:xfrm>
              <a:prstGeom prst="line">
                <a:avLst/>
              </a:prstGeom>
              <a:noFill/>
              <a:ln w="3810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headEnd type="none"/>
                <a:tailEnd type="triangle"/>
              </a:ln>
            </p:spPr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5889FCB-FA27-3F8C-6301-B4CC372412C2}"/>
                  </a:ext>
                </a:extLst>
              </p:cNvPr>
              <p:cNvGrpSpPr/>
              <p:nvPr/>
            </p:nvGrpSpPr>
            <p:grpSpPr>
              <a:xfrm>
                <a:off x="9875520" y="1417320"/>
                <a:ext cx="1554480" cy="640080"/>
                <a:chOff x="9875520" y="1417320"/>
                <a:chExt cx="1554480" cy="640080"/>
              </a:xfrm>
            </p:grpSpPr>
            <p:sp>
              <p:nvSpPr>
                <p:cNvPr id="10" name="Shape 18">
                  <a:extLst>
                    <a:ext uri="{FF2B5EF4-FFF2-40B4-BE49-F238E27FC236}">
                      <a16:creationId xmlns:a16="http://schemas.microsoft.com/office/drawing/2014/main" id="{513E6BE1-C6E8-E1EB-6BE9-E9035CA12B1D}"/>
                    </a:ext>
                  </a:extLst>
                </p:cNvPr>
                <p:cNvSpPr/>
                <p:nvPr/>
              </p:nvSpPr>
              <p:spPr>
                <a:xfrm>
                  <a:off x="9875520" y="1417320"/>
                  <a:ext cx="1554480" cy="640080"/>
                </a:xfrm>
                <a:prstGeom prst="roundRect">
                  <a:avLst/>
                </a:prstGeom>
                <a:solidFill>
                  <a:srgbClr val="0070C0"/>
                </a:solidFill>
                <a:ln w="1270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</p:spPr>
            </p:sp>
            <p:sp>
              <p:nvSpPr>
                <p:cNvPr id="11" name="Text 19">
                  <a:extLst>
                    <a:ext uri="{FF2B5EF4-FFF2-40B4-BE49-F238E27FC236}">
                      <a16:creationId xmlns:a16="http://schemas.microsoft.com/office/drawing/2014/main" id="{D9DC9DD5-EC29-F313-804B-F19F8B63CCDD}"/>
                    </a:ext>
                  </a:extLst>
                </p:cNvPr>
                <p:cNvSpPr/>
                <p:nvPr/>
              </p:nvSpPr>
              <p:spPr>
                <a:xfrm>
                  <a:off x="9875520" y="1554480"/>
                  <a:ext cx="15544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Fly</a:t>
                  </a:r>
                  <a:endParaRPr lang="en-US" sz="1200" dirty="0"/>
                </a:p>
              </p:txBody>
            </p:sp>
          </p:grpSp>
        </p:grpSp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F943DA96-972E-B668-BB01-4942EE6C878C}"/>
                </a:ext>
              </a:extLst>
            </p:cNvPr>
            <p:cNvSpPr/>
            <p:nvPr/>
          </p:nvSpPr>
          <p:spPr>
            <a:xfrm>
              <a:off x="4569184" y="3073810"/>
              <a:ext cx="252487" cy="0"/>
            </a:xfrm>
            <a:prstGeom prst="line">
              <a:avLst/>
            </a:prstGeom>
            <a:noFill/>
            <a:ln w="3810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/>
              <a:tailEnd type="triangle"/>
            </a:ln>
          </p:spPr>
        </p:sp>
        <p:sp>
          <p:nvSpPr>
            <p:cNvPr id="23" name="Shape 5">
              <a:extLst>
                <a:ext uri="{FF2B5EF4-FFF2-40B4-BE49-F238E27FC236}">
                  <a16:creationId xmlns:a16="http://schemas.microsoft.com/office/drawing/2014/main" id="{162100E9-8FD2-59A2-BC1E-92D10F1EDE1F}"/>
                </a:ext>
              </a:extLst>
            </p:cNvPr>
            <p:cNvSpPr/>
            <p:nvPr/>
          </p:nvSpPr>
          <p:spPr>
            <a:xfrm>
              <a:off x="6252433" y="3073810"/>
              <a:ext cx="252487" cy="0"/>
            </a:xfrm>
            <a:prstGeom prst="line">
              <a:avLst/>
            </a:prstGeom>
            <a:noFill/>
            <a:ln w="3810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/>
              <a:tailEnd type="triangle"/>
            </a:ln>
          </p:spPr>
        </p:sp>
        <p:sp>
          <p:nvSpPr>
            <p:cNvPr id="24" name="Shape 5">
              <a:extLst>
                <a:ext uri="{FF2B5EF4-FFF2-40B4-BE49-F238E27FC236}">
                  <a16:creationId xmlns:a16="http://schemas.microsoft.com/office/drawing/2014/main" id="{AED36041-167E-691C-EA53-6E2DC76BBBD1}"/>
                </a:ext>
              </a:extLst>
            </p:cNvPr>
            <p:cNvSpPr/>
            <p:nvPr/>
          </p:nvSpPr>
          <p:spPr>
            <a:xfrm>
              <a:off x="7935682" y="3065207"/>
              <a:ext cx="252487" cy="0"/>
            </a:xfrm>
            <a:prstGeom prst="line">
              <a:avLst/>
            </a:prstGeom>
            <a:noFill/>
            <a:ln w="3810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/>
              <a:tailEnd type="triangle"/>
            </a:ln>
          </p:spPr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ABCD478-72A0-93FD-5D5C-F1037761F580}"/>
              </a:ext>
            </a:extLst>
          </p:cNvPr>
          <p:cNvSpPr/>
          <p:nvPr/>
        </p:nvSpPr>
        <p:spPr>
          <a:xfrm>
            <a:off x="6327940" y="3653563"/>
            <a:ext cx="3670416" cy="2172929"/>
          </a:xfrm>
          <a:prstGeom prst="rect">
            <a:avLst/>
          </a:prstGeom>
          <a:solidFill>
            <a:srgbClr val="00B0F0"/>
          </a:solidFill>
          <a:ln w="38100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Why airlines use IT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Faster service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Fewer errors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Better customer experience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Lower operating cost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77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8DA4-431D-C711-7851-CCBA2C51F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99393"/>
          </a:xfrm>
        </p:spPr>
        <p:txBody>
          <a:bodyPr/>
          <a:lstStyle/>
          <a:p>
            <a:pPr algn="ctr"/>
            <a:r>
              <a:rPr lang="en-US" b="1" dirty="0"/>
              <a:t>Reservations &amp; ticketing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75854-68ED-2118-7236-A8B4D7536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32" y="1946787"/>
            <a:ext cx="10200968" cy="4191547"/>
          </a:xfrm>
        </p:spPr>
        <p:txBody>
          <a:bodyPr/>
          <a:lstStyle/>
          <a:p>
            <a:r>
              <a:rPr lang="en-US" dirty="0"/>
              <a:t>Computer reservation systems enable fast bookings through websites and mobile apps and wide distribution.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C2862-D1AE-FB13-EE06-4A19A43009F4}"/>
              </a:ext>
            </a:extLst>
          </p:cNvPr>
          <p:cNvGrpSpPr/>
          <p:nvPr/>
        </p:nvGrpSpPr>
        <p:grpSpPr>
          <a:xfrm>
            <a:off x="1066800" y="2480088"/>
            <a:ext cx="10058400" cy="1462647"/>
            <a:chOff x="822960" y="1417320"/>
            <a:chExt cx="7315200" cy="130721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2860782-6D6D-371D-1F11-23C858176EEC}"/>
                </a:ext>
              </a:extLst>
            </p:cNvPr>
            <p:cNvGrpSpPr/>
            <p:nvPr/>
          </p:nvGrpSpPr>
          <p:grpSpPr>
            <a:xfrm>
              <a:off x="822960" y="1417320"/>
              <a:ext cx="3611880" cy="1307219"/>
              <a:chOff x="822960" y="1417320"/>
              <a:chExt cx="3611880" cy="1307219"/>
            </a:xfrm>
          </p:grpSpPr>
          <p:sp>
            <p:nvSpPr>
              <p:cNvPr id="17" name="Shape 3">
                <a:extLst>
                  <a:ext uri="{FF2B5EF4-FFF2-40B4-BE49-F238E27FC236}">
                    <a16:creationId xmlns:a16="http://schemas.microsoft.com/office/drawing/2014/main" id="{827AEC63-AFC0-6E13-CA78-E623ED058D58}"/>
                  </a:ext>
                </a:extLst>
              </p:cNvPr>
              <p:cNvSpPr/>
              <p:nvPr/>
            </p:nvSpPr>
            <p:spPr>
              <a:xfrm>
                <a:off x="822960" y="1417320"/>
                <a:ext cx="3611880" cy="1307219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1D5DB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8000"/>
                  </a:srgbClr>
                </a:outerShdw>
              </a:effectLst>
            </p:spPr>
          </p:sp>
          <p:sp>
            <p:nvSpPr>
              <p:cNvPr id="18" name="Text 5">
                <a:extLst>
                  <a:ext uri="{FF2B5EF4-FFF2-40B4-BE49-F238E27FC236}">
                    <a16:creationId xmlns:a16="http://schemas.microsoft.com/office/drawing/2014/main" id="{E0602174-B8F0-DE5E-8513-D20CF5450913}"/>
                  </a:ext>
                </a:extLst>
              </p:cNvPr>
              <p:cNvSpPr/>
              <p:nvPr/>
            </p:nvSpPr>
            <p:spPr>
              <a:xfrm>
                <a:off x="987552" y="1554480"/>
                <a:ext cx="33375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b="1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What IT enables</a:t>
                </a:r>
              </a:p>
            </p:txBody>
          </p:sp>
          <p:sp>
            <p:nvSpPr>
              <p:cNvPr id="19" name="Text 6">
                <a:extLst>
                  <a:ext uri="{FF2B5EF4-FFF2-40B4-BE49-F238E27FC236}">
                    <a16:creationId xmlns:a16="http://schemas.microsoft.com/office/drawing/2014/main" id="{291735DC-50DE-EF60-C7F4-9A757CA62858}"/>
                  </a:ext>
                </a:extLst>
              </p:cNvPr>
              <p:cNvSpPr/>
              <p:nvPr/>
            </p:nvSpPr>
            <p:spPr>
              <a:xfrm>
                <a:off x="987552" y="1920240"/>
                <a:ext cx="3291840" cy="67367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Real-time seat availability</a:t>
                </a: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Faster customer service</a:t>
                </a: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Online self-booking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C6B473A-9F6F-91B8-10F4-113EA2C997F5}"/>
                </a:ext>
              </a:extLst>
            </p:cNvPr>
            <p:cNvGrpSpPr/>
            <p:nvPr/>
          </p:nvGrpSpPr>
          <p:grpSpPr>
            <a:xfrm>
              <a:off x="4526280" y="1417320"/>
              <a:ext cx="3611880" cy="1307219"/>
              <a:chOff x="4526280" y="1417320"/>
              <a:chExt cx="3611880" cy="130721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9A0ECF9-1A43-973B-C739-C0304564C6D2}"/>
                  </a:ext>
                </a:extLst>
              </p:cNvPr>
              <p:cNvGrpSpPr/>
              <p:nvPr/>
            </p:nvGrpSpPr>
            <p:grpSpPr>
              <a:xfrm>
                <a:off x="4526280" y="1417320"/>
                <a:ext cx="3611880" cy="1307219"/>
                <a:chOff x="4526280" y="1417320"/>
                <a:chExt cx="3611880" cy="1307219"/>
              </a:xfrm>
            </p:grpSpPr>
            <p:sp>
              <p:nvSpPr>
                <p:cNvPr id="15" name="Shape 7">
                  <a:extLst>
                    <a:ext uri="{FF2B5EF4-FFF2-40B4-BE49-F238E27FC236}">
                      <a16:creationId xmlns:a16="http://schemas.microsoft.com/office/drawing/2014/main" id="{A9C6C365-C83B-E4AB-36C8-8A1210832490}"/>
                    </a:ext>
                  </a:extLst>
                </p:cNvPr>
                <p:cNvSpPr/>
                <p:nvPr/>
              </p:nvSpPr>
              <p:spPr>
                <a:xfrm>
                  <a:off x="4526280" y="1417320"/>
                  <a:ext cx="3611880" cy="1307219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38100" dist="19050" dir="27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16" name="Text 9">
                  <a:extLst>
                    <a:ext uri="{FF2B5EF4-FFF2-40B4-BE49-F238E27FC236}">
                      <a16:creationId xmlns:a16="http://schemas.microsoft.com/office/drawing/2014/main" id="{E58E53D4-4ADD-3D5D-5E78-5FDDBF0DE41B}"/>
                    </a:ext>
                  </a:extLst>
                </p:cNvPr>
                <p:cNvSpPr/>
                <p:nvPr/>
              </p:nvSpPr>
              <p:spPr>
                <a:xfrm>
                  <a:off x="4690872" y="1554480"/>
                  <a:ext cx="33375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600" b="1" dirty="0">
                      <a:solidFill>
                        <a:srgbClr val="111827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Example: SABRE</a:t>
                  </a:r>
                </a:p>
              </p:txBody>
            </p:sp>
          </p:grpSp>
          <p:sp>
            <p:nvSpPr>
              <p:cNvPr id="14" name="Text 10">
                <a:extLst>
                  <a:ext uri="{FF2B5EF4-FFF2-40B4-BE49-F238E27FC236}">
                    <a16:creationId xmlns:a16="http://schemas.microsoft.com/office/drawing/2014/main" id="{FA116C9C-D53C-4E98-D416-F41335FC7226}"/>
                  </a:ext>
                </a:extLst>
              </p:cNvPr>
              <p:cNvSpPr/>
              <p:nvPr/>
            </p:nvSpPr>
            <p:spPr>
              <a:xfrm>
                <a:off x="4690872" y="1920240"/>
                <a:ext cx="3291840" cy="67367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Early large airline reservation system</a:t>
                </a: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Built with IBM for American Airlines</a:t>
                </a: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Helped scale reservations and ticketing</a:t>
                </a:r>
              </a:p>
            </p:txBody>
          </p:sp>
        </p:grpSp>
      </p:grpSp>
      <p:pic>
        <p:nvPicPr>
          <p:cNvPr id="3074" name="Picture 2" descr="Air Travel Reservations &amp; Ticketing | Travel Agent in Kenya | Helinas  Safaris">
            <a:extLst>
              <a:ext uri="{FF2B5EF4-FFF2-40B4-BE49-F238E27FC236}">
                <a16:creationId xmlns:a16="http://schemas.microsoft.com/office/drawing/2014/main" id="{ED200660-3F90-09DA-AE0D-97CCEEE46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987" y="4152308"/>
            <a:ext cx="4193458" cy="13727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23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B052-39C4-D99A-0E94-4747B418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13256"/>
          </a:xfrm>
        </p:spPr>
        <p:txBody>
          <a:bodyPr/>
          <a:lstStyle/>
          <a:p>
            <a:pPr algn="ctr"/>
            <a:r>
              <a:rPr lang="en-US" b="1" dirty="0"/>
              <a:t>Operational and Maintenance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84615-25BD-9B30-FC24-3144DE33D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Airlines use IT to plan and control daily operations.</a:t>
            </a:r>
          </a:p>
          <a:p>
            <a:r>
              <a:rPr lang="en-US" dirty="0"/>
              <a:t>These IT functions support airline operations through: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04CA39-D210-FB57-20DC-2A1FFB7C9D60}"/>
              </a:ext>
            </a:extLst>
          </p:cNvPr>
          <p:cNvGrpSpPr/>
          <p:nvPr/>
        </p:nvGrpSpPr>
        <p:grpSpPr>
          <a:xfrm>
            <a:off x="1162664" y="3011030"/>
            <a:ext cx="9866671" cy="2348436"/>
            <a:chOff x="822960" y="1417320"/>
            <a:chExt cx="10789920" cy="130721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39318A1-3504-F58D-8255-0C54FB4E0C8E}"/>
                </a:ext>
              </a:extLst>
            </p:cNvPr>
            <p:cNvGrpSpPr/>
            <p:nvPr/>
          </p:nvGrpSpPr>
          <p:grpSpPr>
            <a:xfrm>
              <a:off x="822960" y="1417320"/>
              <a:ext cx="3611880" cy="1307219"/>
              <a:chOff x="822960" y="1417320"/>
              <a:chExt cx="3611880" cy="1307219"/>
            </a:xfrm>
          </p:grpSpPr>
          <p:sp>
            <p:nvSpPr>
              <p:cNvPr id="15" name="Shape 3">
                <a:extLst>
                  <a:ext uri="{FF2B5EF4-FFF2-40B4-BE49-F238E27FC236}">
                    <a16:creationId xmlns:a16="http://schemas.microsoft.com/office/drawing/2014/main" id="{23E13606-9BDB-80A7-10D3-AC6D8FC0C274}"/>
                  </a:ext>
                </a:extLst>
              </p:cNvPr>
              <p:cNvSpPr/>
              <p:nvPr/>
            </p:nvSpPr>
            <p:spPr>
              <a:xfrm>
                <a:off x="822960" y="1417320"/>
                <a:ext cx="3611880" cy="1307219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1D5DB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8000"/>
                  </a:srgbClr>
                </a:outerShdw>
              </a:effectLst>
            </p:spPr>
          </p:sp>
          <p:sp>
            <p:nvSpPr>
              <p:cNvPr id="16" name="Text 5">
                <a:extLst>
                  <a:ext uri="{FF2B5EF4-FFF2-40B4-BE49-F238E27FC236}">
                    <a16:creationId xmlns:a16="http://schemas.microsoft.com/office/drawing/2014/main" id="{24D741C1-9AF8-5B9E-2064-7C4F4EEC24F5}"/>
                  </a:ext>
                </a:extLst>
              </p:cNvPr>
              <p:cNvSpPr/>
              <p:nvPr/>
            </p:nvSpPr>
            <p:spPr>
              <a:xfrm>
                <a:off x="987552" y="1554480"/>
                <a:ext cx="33375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b="1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Fleet planning</a:t>
                </a:r>
                <a:endParaRPr lang="en-US" sz="16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17" name="Text 6">
                <a:extLst>
                  <a:ext uri="{FF2B5EF4-FFF2-40B4-BE49-F238E27FC236}">
                    <a16:creationId xmlns:a16="http://schemas.microsoft.com/office/drawing/2014/main" id="{5A0C7617-8DC5-BC7A-F9D5-59B245CF77F7}"/>
                  </a:ext>
                </a:extLst>
              </p:cNvPr>
              <p:cNvSpPr/>
              <p:nvPr/>
            </p:nvSpPr>
            <p:spPr>
              <a:xfrm>
                <a:off x="987552" y="1920240"/>
                <a:ext cx="3291840" cy="67367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Assign aircraft to routes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Optimize turnaround time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Reduce delays and cancellations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199DF2-C713-6C32-161A-5325833F2065}"/>
                </a:ext>
              </a:extLst>
            </p:cNvPr>
            <p:cNvGrpSpPr/>
            <p:nvPr/>
          </p:nvGrpSpPr>
          <p:grpSpPr>
            <a:xfrm>
              <a:off x="4526280" y="1417320"/>
              <a:ext cx="3611880" cy="1307219"/>
              <a:chOff x="4526280" y="1417320"/>
              <a:chExt cx="3611880" cy="130721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419CF4B-D787-553D-561D-4120CCCEE84F}"/>
                  </a:ext>
                </a:extLst>
              </p:cNvPr>
              <p:cNvGrpSpPr/>
              <p:nvPr/>
            </p:nvGrpSpPr>
            <p:grpSpPr>
              <a:xfrm>
                <a:off x="4526280" y="1417320"/>
                <a:ext cx="3611880" cy="1307219"/>
                <a:chOff x="4526280" y="1417320"/>
                <a:chExt cx="3611880" cy="1307219"/>
              </a:xfrm>
            </p:grpSpPr>
            <p:sp>
              <p:nvSpPr>
                <p:cNvPr id="13" name="Shape 7">
                  <a:extLst>
                    <a:ext uri="{FF2B5EF4-FFF2-40B4-BE49-F238E27FC236}">
                      <a16:creationId xmlns:a16="http://schemas.microsoft.com/office/drawing/2014/main" id="{7D85B98F-9C40-48CF-56FD-39FFD7FFA39E}"/>
                    </a:ext>
                  </a:extLst>
                </p:cNvPr>
                <p:cNvSpPr/>
                <p:nvPr/>
              </p:nvSpPr>
              <p:spPr>
                <a:xfrm>
                  <a:off x="4526280" y="1417320"/>
                  <a:ext cx="3611880" cy="1307219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38100" dist="19050" dir="27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14" name="Text 9">
                  <a:extLst>
                    <a:ext uri="{FF2B5EF4-FFF2-40B4-BE49-F238E27FC236}">
                      <a16:creationId xmlns:a16="http://schemas.microsoft.com/office/drawing/2014/main" id="{D088A7C6-C837-1A36-3808-DB0F95418D40}"/>
                    </a:ext>
                  </a:extLst>
                </p:cNvPr>
                <p:cNvSpPr/>
                <p:nvPr/>
              </p:nvSpPr>
              <p:spPr>
                <a:xfrm>
                  <a:off x="4690872" y="1554480"/>
                  <a:ext cx="33375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600" b="1" dirty="0">
                      <a:solidFill>
                        <a:srgbClr val="111827"/>
                      </a:solidFill>
                      <a:latin typeface="+mj-lt"/>
                      <a:ea typeface="Arial" pitchFamily="34" charset="-122"/>
                      <a:cs typeface="Arial" pitchFamily="34" charset="-120"/>
                    </a:rPr>
                    <a:t>Crew scheduling</a:t>
                  </a:r>
                  <a:endParaRPr lang="en-US" sz="16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</p:grp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EE4032B0-1CA4-33C4-D34A-6BB6349F8A3E}"/>
                  </a:ext>
                </a:extLst>
              </p:cNvPr>
              <p:cNvSpPr/>
              <p:nvPr/>
            </p:nvSpPr>
            <p:spPr>
              <a:xfrm>
                <a:off x="4690872" y="1920240"/>
                <a:ext cx="3291840" cy="67367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Rosters and duty limits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Right crew at right airport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Compliance with regulations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68F706-C6C1-A9A7-9EEE-22F2420BBCED}"/>
                </a:ext>
              </a:extLst>
            </p:cNvPr>
            <p:cNvGrpSpPr/>
            <p:nvPr/>
          </p:nvGrpSpPr>
          <p:grpSpPr>
            <a:xfrm>
              <a:off x="8275320" y="1417320"/>
              <a:ext cx="3337560" cy="1307219"/>
              <a:chOff x="8275320" y="1417320"/>
              <a:chExt cx="3337560" cy="1307219"/>
            </a:xfrm>
          </p:grpSpPr>
          <p:sp>
            <p:nvSpPr>
              <p:cNvPr id="8" name="Shape 11">
                <a:extLst>
                  <a:ext uri="{FF2B5EF4-FFF2-40B4-BE49-F238E27FC236}">
                    <a16:creationId xmlns:a16="http://schemas.microsoft.com/office/drawing/2014/main" id="{DC3A2CEF-737F-FB7F-2425-AA4190F4C196}"/>
                  </a:ext>
                </a:extLst>
              </p:cNvPr>
              <p:cNvSpPr/>
              <p:nvPr/>
            </p:nvSpPr>
            <p:spPr>
              <a:xfrm>
                <a:off x="8275320" y="1417320"/>
                <a:ext cx="3337560" cy="1307219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1D5DB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8000"/>
                  </a:srgbClr>
                </a:outerShdw>
              </a:effectLst>
            </p:spPr>
          </p:sp>
          <p:sp>
            <p:nvSpPr>
              <p:cNvPr id="9" name="Text 13">
                <a:extLst>
                  <a:ext uri="{FF2B5EF4-FFF2-40B4-BE49-F238E27FC236}">
                    <a16:creationId xmlns:a16="http://schemas.microsoft.com/office/drawing/2014/main" id="{F2B6F499-7456-ECDA-C190-932132A5C086}"/>
                  </a:ext>
                </a:extLst>
              </p:cNvPr>
              <p:cNvSpPr/>
              <p:nvPr/>
            </p:nvSpPr>
            <p:spPr>
              <a:xfrm>
                <a:off x="8439912" y="1554480"/>
                <a:ext cx="30632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b="1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Maintenance IT</a:t>
                </a:r>
                <a:endParaRPr lang="en-US" sz="16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10" name="Text 14">
                <a:extLst>
                  <a:ext uri="{FF2B5EF4-FFF2-40B4-BE49-F238E27FC236}">
                    <a16:creationId xmlns:a16="http://schemas.microsoft.com/office/drawing/2014/main" id="{86E2E8AF-A06D-A549-A4FE-95B03A0B03F6}"/>
                  </a:ext>
                </a:extLst>
              </p:cNvPr>
              <p:cNvSpPr/>
              <p:nvPr/>
            </p:nvSpPr>
            <p:spPr>
              <a:xfrm>
                <a:off x="8439912" y="1920240"/>
                <a:ext cx="3017520" cy="67367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Track inspections and faults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Manage spare parts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  <a:p>
                <a:r>
                  <a:rPr lang="en-US" sz="1200" dirty="0">
                    <a:solidFill>
                      <a:srgbClr val="111827"/>
                    </a:solidFill>
                    <a:latin typeface="+mj-lt"/>
                    <a:ea typeface="Arial" pitchFamily="34" charset="-122"/>
                    <a:cs typeface="Arial" pitchFamily="34" charset="-120"/>
                  </a:rPr>
                  <a:t>• Improve safety and reliability</a:t>
                </a:r>
                <a:endParaRPr lang="en-US" sz="12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091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5637-4833-EBF2-20C1-EDEE84B9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96842"/>
          </a:xfrm>
        </p:spPr>
        <p:txBody>
          <a:bodyPr/>
          <a:lstStyle/>
          <a:p>
            <a:pPr algn="ctr"/>
            <a:r>
              <a:rPr lang="en-US" b="1" dirty="0"/>
              <a:t>Flight deck &amp; safety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47E9-E795-8D1C-39F9-F9D8E1D96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194"/>
            <a:ext cx="10058400" cy="3938550"/>
          </a:xfrm>
        </p:spPr>
        <p:txBody>
          <a:bodyPr/>
          <a:lstStyle/>
          <a:p>
            <a:r>
              <a:rPr lang="en-US" dirty="0"/>
              <a:t>Modern aircraft use computers to support pilots, prevent unsafe inputs, and improve the safety and reliability of flight operations.</a:t>
            </a:r>
          </a:p>
          <a:p>
            <a:r>
              <a:rPr lang="en-US" dirty="0"/>
              <a:t>The main computer-based safety systems used in the flight deck are: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D92942A-E506-BBB5-B976-5A53BF08A9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4038241"/>
              </p:ext>
            </p:extLst>
          </p:nvPr>
        </p:nvGraphicFramePr>
        <p:xfrm>
          <a:off x="1502697" y="3059237"/>
          <a:ext cx="9186606" cy="2576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5429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8982-D3E3-4076-B470-273DB729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600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Benefits of Information Technology in the Airline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D90C-3086-9CB8-CF81-781CCA7BB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645991"/>
            <a:ext cx="10058400" cy="3589080"/>
          </a:xfrm>
        </p:spPr>
        <p:txBody>
          <a:bodyPr>
            <a:normAutofit/>
          </a:bodyPr>
          <a:lstStyle/>
          <a:p>
            <a:r>
              <a:rPr lang="en-US" dirty="0"/>
              <a:t>Enhances </a:t>
            </a:r>
            <a:r>
              <a:rPr lang="en-US" b="1" u="sng" dirty="0"/>
              <a:t>customer experience </a:t>
            </a:r>
            <a:r>
              <a:rPr lang="en-US" dirty="0"/>
              <a:t>through quick reservation, online check-in, in-flight live flight updates, and mobile boarding passes.</a:t>
            </a:r>
          </a:p>
          <a:p>
            <a:r>
              <a:rPr lang="en-US" dirty="0"/>
              <a:t>Raises </a:t>
            </a:r>
            <a:r>
              <a:rPr lang="en-US" b="1" u="sng" dirty="0"/>
              <a:t>efficiency of operations </a:t>
            </a:r>
            <a:r>
              <a:rPr lang="en-US" dirty="0"/>
              <a:t>through automation of scheduling, reservations, and airport operations.</a:t>
            </a:r>
          </a:p>
          <a:p>
            <a:r>
              <a:rPr lang="en-US" dirty="0"/>
              <a:t>Improves </a:t>
            </a:r>
            <a:r>
              <a:rPr lang="en-US" b="1" u="sng" dirty="0"/>
              <a:t>safety and reliability </a:t>
            </a:r>
            <a:r>
              <a:rPr lang="en-US" dirty="0"/>
              <a:t>with maintenance tracking systems, flight monitoring, and real-time data sharing.</a:t>
            </a:r>
          </a:p>
          <a:p>
            <a:r>
              <a:rPr lang="en-US" dirty="0"/>
              <a:t>Enhances </a:t>
            </a:r>
            <a:r>
              <a:rPr lang="en-US" b="1" u="sng" dirty="0"/>
              <a:t>improved decision-making </a:t>
            </a:r>
            <a:r>
              <a:rPr lang="en-US" dirty="0"/>
              <a:t>through the use of data to optimize routes, fuel consumption, pricing and capacity planning.</a:t>
            </a:r>
          </a:p>
          <a:p>
            <a:r>
              <a:rPr lang="en-US" dirty="0"/>
              <a:t>Minimizes </a:t>
            </a:r>
            <a:r>
              <a:rPr lang="en-US" b="1" u="sng" dirty="0"/>
              <a:t>operational expenses </a:t>
            </a:r>
            <a:r>
              <a:rPr lang="en-US" dirty="0"/>
              <a:t>through better use of resources, minimizing disruptions, and reducing manpower requirements.</a:t>
            </a:r>
          </a:p>
          <a:p>
            <a:r>
              <a:rPr lang="en-US" dirty="0"/>
              <a:t>Enhances </a:t>
            </a:r>
            <a:r>
              <a:rPr lang="en-US" b="1" u="sng" dirty="0"/>
              <a:t>competitiveness</a:t>
            </a:r>
            <a:r>
              <a:rPr lang="en-US" dirty="0"/>
              <a:t> through enabling the airlines to respond swiftly to the demands of passengers and market changes.</a:t>
            </a:r>
          </a:p>
        </p:txBody>
      </p:sp>
      <p:pic>
        <p:nvPicPr>
          <p:cNvPr id="2050" name="Picture 2" descr="Voluntary Employment Benefits: What's ...">
            <a:extLst>
              <a:ext uri="{FF2B5EF4-FFF2-40B4-BE49-F238E27FC236}">
                <a16:creationId xmlns:a16="http://schemas.microsoft.com/office/drawing/2014/main" id="{3C136795-80FE-1E70-D694-3E79C8DA4F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74"/>
          <a:stretch>
            <a:fillRect/>
          </a:stretch>
        </p:blipFill>
        <p:spPr bwMode="auto">
          <a:xfrm>
            <a:off x="4786312" y="1685926"/>
            <a:ext cx="2619375" cy="9600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750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B426-D13E-B3BB-8861-3FE9FC5D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5"/>
            <a:ext cx="10058400" cy="95023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Future Perspective of IT in the Airline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AAD92-510F-C6DF-8717-E7B71E59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09135"/>
            <a:ext cx="6051755" cy="3939929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IT and data science will support sustainable aviation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Increased use of automation</a:t>
            </a:r>
            <a:r>
              <a:rPr lang="en-US" sz="1800"/>
              <a:t>, AI, </a:t>
            </a:r>
            <a:r>
              <a:rPr lang="en-US" sz="1800" dirty="0"/>
              <a:t>and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Improved fuel efficiency and reduced emissions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Better management of growing air traffic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Data-driven systems for air traffic management and weather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Optimized flight paths for efficiency and safety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Digital integration to support unmanned aircraft and urban air mobility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Support for electric aircraft and environmentally sustainable operations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DD34D1F5-D70D-6262-38CD-50D7AD354367}"/>
              </a:ext>
            </a:extLst>
          </p:cNvPr>
          <p:cNvSpPr/>
          <p:nvPr/>
        </p:nvSpPr>
        <p:spPr>
          <a:xfrm>
            <a:off x="1066800" y="5749064"/>
            <a:ext cx="10299290" cy="466341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7030A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75057" dist="38100" dir="5400000" sy="-20000" rotWithShape="0">
                    <a:prstClr val="black">
                      <a:alpha val="25000"/>
                    </a:prstClr>
                  </a:outerShdw>
                </a:effectLst>
              </a:rPr>
              <a:t>IT in the Airline business is growing, but security and reliability are critical.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9D525-9572-34F3-B353-667EDFA2F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555" y="1809136"/>
            <a:ext cx="4336026" cy="3421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441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{300A7ABA-E5AC-474C-ACBC-C9A031CA036F}TF993b3720-55e5-4d3e-ae7c-1ec77a73f5a45edb12b8_win32-bce7b620edb8</Template>
  <TotalTime>72</TotalTime>
  <Words>507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 Next LT Pro</vt:lpstr>
      <vt:lpstr>Avenir Next LT Pro Light</vt:lpstr>
      <vt:lpstr>Garamond</vt:lpstr>
      <vt:lpstr>Wingdings</vt:lpstr>
      <vt:lpstr>SavonVTI</vt:lpstr>
      <vt:lpstr>Role of Information Technology in Airline Business</vt:lpstr>
      <vt:lpstr>Why IT matters in airlines</vt:lpstr>
      <vt:lpstr>Reservations &amp; ticketing</vt:lpstr>
      <vt:lpstr>Operational and Maintenance Systems</vt:lpstr>
      <vt:lpstr>Flight deck &amp; safety systems</vt:lpstr>
      <vt:lpstr>Benefits of Information Technology in the Airline Business</vt:lpstr>
      <vt:lpstr>Future Perspective of IT in the Airline Industry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34</cp:revision>
  <dcterms:created xsi:type="dcterms:W3CDTF">2026-01-16T14:35:47Z</dcterms:created>
  <dcterms:modified xsi:type="dcterms:W3CDTF">2026-01-16T15:56:38Z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