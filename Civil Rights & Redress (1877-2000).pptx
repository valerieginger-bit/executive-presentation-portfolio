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230190-7E63-48E0-BBC2-D315C9EA69A3}"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0651F142-F8C6-4152-90CA-F3020E25AF94}">
      <dgm:prSet phldrT="[Text]" phldr="0" custT="1"/>
      <dgm:spPr/>
      <dgm:t>
        <a:bodyPr/>
        <a:lstStyle/>
        <a:p>
          <a:pPr algn="l"/>
          <a:r>
            <a:rPr lang="en-US" sz="2000" dirty="0"/>
            <a:t>1) Build an official record</a:t>
          </a:r>
        </a:p>
      </dgm:t>
    </dgm:pt>
    <dgm:pt modelId="{A68A93A0-AED8-4474-9B23-BFC061172187}" type="parTrans" cxnId="{3A6A8358-AE47-40CC-A5B5-2838D8691FB1}">
      <dgm:prSet/>
      <dgm:spPr/>
      <dgm:t>
        <a:bodyPr/>
        <a:lstStyle/>
        <a:p>
          <a:endParaRPr lang="en-US"/>
        </a:p>
      </dgm:t>
    </dgm:pt>
    <dgm:pt modelId="{F710F2AE-6CA4-4E0F-AA23-BCA793054EA4}" type="sibTrans" cxnId="{3A6A8358-AE47-40CC-A5B5-2838D8691FB1}">
      <dgm:prSet/>
      <dgm:spPr/>
      <dgm:t>
        <a:bodyPr/>
        <a:lstStyle/>
        <a:p>
          <a:endParaRPr lang="en-US"/>
        </a:p>
      </dgm:t>
    </dgm:pt>
    <dgm:pt modelId="{08808A8C-050B-4CF6-B3E7-DEC17D6EBED3}">
      <dgm:prSet phldrT="[Text]" phldr="0"/>
      <dgm:spPr/>
      <dgm:t>
        <a:bodyPr/>
        <a:lstStyle/>
        <a:p>
          <a:r>
            <a:rPr lang="en-US" dirty="0"/>
            <a:t>Commission hearings and testimony</a:t>
          </a:r>
        </a:p>
      </dgm:t>
    </dgm:pt>
    <dgm:pt modelId="{CB38DB60-7861-47D1-9B8A-CC717259CB25}" type="parTrans" cxnId="{93018B47-6051-4E82-BA3D-DA3A12A99698}">
      <dgm:prSet/>
      <dgm:spPr/>
      <dgm:t>
        <a:bodyPr/>
        <a:lstStyle/>
        <a:p>
          <a:endParaRPr lang="en-US"/>
        </a:p>
      </dgm:t>
    </dgm:pt>
    <dgm:pt modelId="{9756C21F-10F2-43DC-9525-937AC2B2C68D}" type="sibTrans" cxnId="{93018B47-6051-4E82-BA3D-DA3A12A99698}">
      <dgm:prSet/>
      <dgm:spPr/>
      <dgm:t>
        <a:bodyPr/>
        <a:lstStyle/>
        <a:p>
          <a:endParaRPr lang="en-US"/>
        </a:p>
      </dgm:t>
    </dgm:pt>
    <dgm:pt modelId="{ED2F0E59-8E61-47F8-ACB0-23A508A7900D}">
      <dgm:prSet phldrT="[Text]" phldr="0" custT="1"/>
      <dgm:spPr/>
      <dgm:t>
        <a:bodyPr/>
        <a:lstStyle/>
        <a:p>
          <a:pPr algn="l"/>
          <a:r>
            <a:rPr lang="en-US" sz="2000" dirty="0"/>
            <a:t>2) Pressure Congress</a:t>
          </a:r>
        </a:p>
      </dgm:t>
    </dgm:pt>
    <dgm:pt modelId="{AAF4D68F-0AD0-4DBA-A97A-1EFC8728F85C}" type="parTrans" cxnId="{8588AD62-E3A5-4C04-A800-89381926D88E}">
      <dgm:prSet/>
      <dgm:spPr/>
      <dgm:t>
        <a:bodyPr/>
        <a:lstStyle/>
        <a:p>
          <a:endParaRPr lang="en-US"/>
        </a:p>
      </dgm:t>
    </dgm:pt>
    <dgm:pt modelId="{3C7AA2FA-A800-4C94-8F59-BD794F97BE7B}" type="sibTrans" cxnId="{8588AD62-E3A5-4C04-A800-89381926D88E}">
      <dgm:prSet/>
      <dgm:spPr/>
      <dgm:t>
        <a:bodyPr/>
        <a:lstStyle/>
        <a:p>
          <a:endParaRPr lang="en-US"/>
        </a:p>
      </dgm:t>
    </dgm:pt>
    <dgm:pt modelId="{9AAFA0EE-8D5E-4448-A2ED-063B40FF854C}">
      <dgm:prSet phldrT="[Text]"/>
      <dgm:spPr/>
      <dgm:t>
        <a:bodyPr/>
        <a:lstStyle/>
        <a:p>
          <a:r>
            <a:rPr lang="en-US" dirty="0"/>
            <a:t>Lobbying and coalition-building</a:t>
          </a:r>
        </a:p>
      </dgm:t>
    </dgm:pt>
    <dgm:pt modelId="{3F6C9CFF-E2D2-4C4A-BB89-C3A864800886}" type="parTrans" cxnId="{971CFACE-BF75-4B88-8387-117CDD3BF257}">
      <dgm:prSet/>
      <dgm:spPr/>
      <dgm:t>
        <a:bodyPr/>
        <a:lstStyle/>
        <a:p>
          <a:endParaRPr lang="en-US"/>
        </a:p>
      </dgm:t>
    </dgm:pt>
    <dgm:pt modelId="{25B2B0CA-577B-4C0D-88AE-25730B6FF4E8}" type="sibTrans" cxnId="{971CFACE-BF75-4B88-8387-117CDD3BF257}">
      <dgm:prSet/>
      <dgm:spPr/>
      <dgm:t>
        <a:bodyPr/>
        <a:lstStyle/>
        <a:p>
          <a:endParaRPr lang="en-US"/>
        </a:p>
      </dgm:t>
    </dgm:pt>
    <dgm:pt modelId="{0DD8F816-505F-46D9-9E5E-982A71C7D714}">
      <dgm:prSet phldrT="[Text]" phldr="0" custT="1"/>
      <dgm:spPr/>
      <dgm:t>
        <a:bodyPr/>
        <a:lstStyle/>
        <a:p>
          <a:pPr algn="l"/>
          <a:r>
            <a:rPr lang="en-US" sz="2000" dirty="0"/>
            <a:t>3) Public education</a:t>
          </a:r>
        </a:p>
      </dgm:t>
    </dgm:pt>
    <dgm:pt modelId="{44F8823D-F548-48ED-B1C6-5040381C40D8}" type="parTrans" cxnId="{E36733BF-36DC-410A-A6CB-4DA4815917FA}">
      <dgm:prSet/>
      <dgm:spPr/>
      <dgm:t>
        <a:bodyPr/>
        <a:lstStyle/>
        <a:p>
          <a:endParaRPr lang="en-US"/>
        </a:p>
      </dgm:t>
    </dgm:pt>
    <dgm:pt modelId="{0EB1F547-87A2-4CB8-9DB7-013B45DEFC9B}" type="sibTrans" cxnId="{E36733BF-36DC-410A-A6CB-4DA4815917FA}">
      <dgm:prSet/>
      <dgm:spPr/>
      <dgm:t>
        <a:bodyPr/>
        <a:lstStyle/>
        <a:p>
          <a:endParaRPr lang="en-US"/>
        </a:p>
      </dgm:t>
    </dgm:pt>
    <dgm:pt modelId="{564A4CAF-6BED-4391-A456-367F5536AE82}">
      <dgm:prSet phldrT="[Text]"/>
      <dgm:spPr/>
      <dgm:t>
        <a:bodyPr/>
        <a:lstStyle/>
        <a:p>
          <a:r>
            <a:rPr lang="en-US" dirty="0"/>
            <a:t>Community materials and programs</a:t>
          </a:r>
        </a:p>
      </dgm:t>
    </dgm:pt>
    <dgm:pt modelId="{37D7917F-613F-4A57-B29E-68ACF8D18451}" type="parTrans" cxnId="{9BDE7222-5B8F-4A6F-BE67-493A1275FB13}">
      <dgm:prSet/>
      <dgm:spPr/>
      <dgm:t>
        <a:bodyPr/>
        <a:lstStyle/>
        <a:p>
          <a:endParaRPr lang="en-US"/>
        </a:p>
      </dgm:t>
    </dgm:pt>
    <dgm:pt modelId="{92C263E0-8A0B-42AF-A509-AE03AA96B67F}" type="sibTrans" cxnId="{9BDE7222-5B8F-4A6F-BE67-493A1275FB13}">
      <dgm:prSet/>
      <dgm:spPr/>
      <dgm:t>
        <a:bodyPr/>
        <a:lstStyle/>
        <a:p>
          <a:endParaRPr lang="en-US"/>
        </a:p>
      </dgm:t>
    </dgm:pt>
    <dgm:pt modelId="{54793312-2CC5-4E57-A60B-2165DFCF8671}">
      <dgm:prSet/>
      <dgm:spPr/>
      <dgm:t>
        <a:bodyPr/>
        <a:lstStyle/>
        <a:p>
          <a:r>
            <a:rPr lang="en-US"/>
            <a:t>Federal report labels incarceration as injustice</a:t>
          </a:r>
        </a:p>
      </dgm:t>
    </dgm:pt>
    <dgm:pt modelId="{E28A8E2F-C9D9-4451-B59C-23258E3AC8D5}" type="parTrans" cxnId="{88F08237-1490-4E9E-AED2-9BA1F229650F}">
      <dgm:prSet/>
      <dgm:spPr/>
      <dgm:t>
        <a:bodyPr/>
        <a:lstStyle/>
        <a:p>
          <a:endParaRPr lang="en-US"/>
        </a:p>
      </dgm:t>
    </dgm:pt>
    <dgm:pt modelId="{FBF76853-5C01-4131-9DA5-FB20F3D8E47A}" type="sibTrans" cxnId="{88F08237-1490-4E9E-AED2-9BA1F229650F}">
      <dgm:prSet/>
      <dgm:spPr/>
      <dgm:t>
        <a:bodyPr/>
        <a:lstStyle/>
        <a:p>
          <a:endParaRPr lang="en-US"/>
        </a:p>
      </dgm:t>
    </dgm:pt>
    <dgm:pt modelId="{D0F0FE18-F3E1-4066-ABCB-C5372D9B8252}">
      <dgm:prSet/>
      <dgm:spPr/>
      <dgm:t>
        <a:bodyPr/>
        <a:lstStyle/>
        <a:p>
          <a:endParaRPr lang="en-US"/>
        </a:p>
      </dgm:t>
    </dgm:pt>
    <dgm:pt modelId="{4AAAC577-4C33-4B3A-84C3-DAF94B2C0785}" type="parTrans" cxnId="{C3737892-9272-42E3-8EFC-A7099E1EAFE0}">
      <dgm:prSet/>
      <dgm:spPr/>
      <dgm:t>
        <a:bodyPr/>
        <a:lstStyle/>
        <a:p>
          <a:endParaRPr lang="en-US"/>
        </a:p>
      </dgm:t>
    </dgm:pt>
    <dgm:pt modelId="{10066588-73ED-4F4B-B449-AAF1D74A5241}" type="sibTrans" cxnId="{C3737892-9272-42E3-8EFC-A7099E1EAFE0}">
      <dgm:prSet/>
      <dgm:spPr/>
      <dgm:t>
        <a:bodyPr/>
        <a:lstStyle/>
        <a:p>
          <a:endParaRPr lang="en-US"/>
        </a:p>
      </dgm:t>
    </dgm:pt>
    <dgm:pt modelId="{745B79A0-DBC4-4AAE-9BEB-08A5567FB765}">
      <dgm:prSet/>
      <dgm:spPr/>
      <dgm:t>
        <a:bodyPr/>
        <a:lstStyle/>
        <a:p>
          <a:r>
            <a:rPr lang="en-US" dirty="0"/>
            <a:t>Use "redress" framing to win votes</a:t>
          </a:r>
        </a:p>
      </dgm:t>
    </dgm:pt>
    <dgm:pt modelId="{252B9DC1-61FC-4F93-9344-73E53F75ED55}" type="parTrans" cxnId="{886BBD1A-541E-4A8B-AF7C-798C3A7737A1}">
      <dgm:prSet/>
      <dgm:spPr/>
      <dgm:t>
        <a:bodyPr/>
        <a:lstStyle/>
        <a:p>
          <a:endParaRPr lang="en-US"/>
        </a:p>
      </dgm:t>
    </dgm:pt>
    <dgm:pt modelId="{768D6CBF-6137-45AD-9643-4DCCD9B102B6}" type="sibTrans" cxnId="{886BBD1A-541E-4A8B-AF7C-798C3A7737A1}">
      <dgm:prSet/>
      <dgm:spPr/>
      <dgm:t>
        <a:bodyPr/>
        <a:lstStyle/>
        <a:p>
          <a:endParaRPr lang="en-US"/>
        </a:p>
      </dgm:t>
    </dgm:pt>
    <dgm:pt modelId="{DECBBA5C-3CE5-4F4E-85E4-41C2F965CABE}">
      <dgm:prSet/>
      <dgm:spPr/>
      <dgm:t>
        <a:bodyPr/>
        <a:lstStyle/>
        <a:p>
          <a:r>
            <a:rPr lang="en-US" dirty="0"/>
            <a:t>Keep the issue visible over time</a:t>
          </a:r>
        </a:p>
      </dgm:t>
    </dgm:pt>
    <dgm:pt modelId="{6D975A47-AB02-473F-8C7A-243D1CBF63B1}" type="parTrans" cxnId="{BA353FD1-6C68-48EC-9189-DDDEE169CE6C}">
      <dgm:prSet/>
      <dgm:spPr/>
      <dgm:t>
        <a:bodyPr/>
        <a:lstStyle/>
        <a:p>
          <a:endParaRPr lang="en-US"/>
        </a:p>
      </dgm:t>
    </dgm:pt>
    <dgm:pt modelId="{158C35F8-655E-40A6-83CB-16B03EFF9719}" type="sibTrans" cxnId="{BA353FD1-6C68-48EC-9189-DDDEE169CE6C}">
      <dgm:prSet/>
      <dgm:spPr/>
      <dgm:t>
        <a:bodyPr/>
        <a:lstStyle/>
        <a:p>
          <a:endParaRPr lang="en-US"/>
        </a:p>
      </dgm:t>
    </dgm:pt>
    <dgm:pt modelId="{C83FF1F4-62E2-42F0-B90E-860E2F000099}" type="pres">
      <dgm:prSet presAssocID="{6E230190-7E63-48E0-BBC2-D315C9EA69A3}" presName="Name0" presStyleCnt="0">
        <dgm:presLayoutVars>
          <dgm:dir/>
          <dgm:animLvl val="lvl"/>
          <dgm:resizeHandles val="exact"/>
        </dgm:presLayoutVars>
      </dgm:prSet>
      <dgm:spPr/>
    </dgm:pt>
    <dgm:pt modelId="{ED06C634-313A-4C5F-B1DA-E7D0ABA62018}" type="pres">
      <dgm:prSet presAssocID="{0651F142-F8C6-4152-90CA-F3020E25AF94}" presName="linNode" presStyleCnt="0"/>
      <dgm:spPr/>
    </dgm:pt>
    <dgm:pt modelId="{0021615B-DEF0-4CE7-9620-A22914F92A41}" type="pres">
      <dgm:prSet presAssocID="{0651F142-F8C6-4152-90CA-F3020E25AF94}" presName="parentText" presStyleLbl="node1" presStyleIdx="0" presStyleCnt="3">
        <dgm:presLayoutVars>
          <dgm:chMax val="1"/>
          <dgm:bulletEnabled val="1"/>
        </dgm:presLayoutVars>
      </dgm:prSet>
      <dgm:spPr/>
    </dgm:pt>
    <dgm:pt modelId="{3CC66BC2-0ED9-4686-8CEE-3590CC3E08F0}" type="pres">
      <dgm:prSet presAssocID="{0651F142-F8C6-4152-90CA-F3020E25AF94}" presName="descendantText" presStyleLbl="alignAccFollowNode1" presStyleIdx="0" presStyleCnt="3">
        <dgm:presLayoutVars>
          <dgm:bulletEnabled val="1"/>
        </dgm:presLayoutVars>
      </dgm:prSet>
      <dgm:spPr/>
    </dgm:pt>
    <dgm:pt modelId="{5150AD3F-C0DF-427D-8793-9A69221C22FC}" type="pres">
      <dgm:prSet presAssocID="{F710F2AE-6CA4-4E0F-AA23-BCA793054EA4}" presName="sp" presStyleCnt="0"/>
      <dgm:spPr/>
    </dgm:pt>
    <dgm:pt modelId="{4FAB6A74-FF71-4980-81D5-AC4EBF8418B8}" type="pres">
      <dgm:prSet presAssocID="{ED2F0E59-8E61-47F8-ACB0-23A508A7900D}" presName="linNode" presStyleCnt="0"/>
      <dgm:spPr/>
    </dgm:pt>
    <dgm:pt modelId="{632DCF8C-5311-4148-A5CA-3F649FB2B46B}" type="pres">
      <dgm:prSet presAssocID="{ED2F0E59-8E61-47F8-ACB0-23A508A7900D}" presName="parentText" presStyleLbl="node1" presStyleIdx="1" presStyleCnt="3">
        <dgm:presLayoutVars>
          <dgm:chMax val="1"/>
          <dgm:bulletEnabled val="1"/>
        </dgm:presLayoutVars>
      </dgm:prSet>
      <dgm:spPr/>
    </dgm:pt>
    <dgm:pt modelId="{7F38734F-66AA-450C-BADD-12FF1B9B491A}" type="pres">
      <dgm:prSet presAssocID="{ED2F0E59-8E61-47F8-ACB0-23A508A7900D}" presName="descendantText" presStyleLbl="alignAccFollowNode1" presStyleIdx="1" presStyleCnt="3">
        <dgm:presLayoutVars>
          <dgm:bulletEnabled val="1"/>
        </dgm:presLayoutVars>
      </dgm:prSet>
      <dgm:spPr/>
    </dgm:pt>
    <dgm:pt modelId="{E9F2A4C9-CA58-4584-9F10-5E70AD4BB4F0}" type="pres">
      <dgm:prSet presAssocID="{3C7AA2FA-A800-4C94-8F59-BD794F97BE7B}" presName="sp" presStyleCnt="0"/>
      <dgm:spPr/>
    </dgm:pt>
    <dgm:pt modelId="{389364AD-B5C1-4938-BC0D-575F69BAD03F}" type="pres">
      <dgm:prSet presAssocID="{0DD8F816-505F-46D9-9E5E-982A71C7D714}" presName="linNode" presStyleCnt="0"/>
      <dgm:spPr/>
    </dgm:pt>
    <dgm:pt modelId="{22202FDF-5F02-4113-8754-8A16BB14CD1B}" type="pres">
      <dgm:prSet presAssocID="{0DD8F816-505F-46D9-9E5E-982A71C7D714}" presName="parentText" presStyleLbl="node1" presStyleIdx="2" presStyleCnt="3">
        <dgm:presLayoutVars>
          <dgm:chMax val="1"/>
          <dgm:bulletEnabled val="1"/>
        </dgm:presLayoutVars>
      </dgm:prSet>
      <dgm:spPr/>
    </dgm:pt>
    <dgm:pt modelId="{AC98A029-2590-44D6-98F2-6A40844B9CDE}" type="pres">
      <dgm:prSet presAssocID="{0DD8F816-505F-46D9-9E5E-982A71C7D714}" presName="descendantText" presStyleLbl="alignAccFollowNode1" presStyleIdx="2" presStyleCnt="3">
        <dgm:presLayoutVars>
          <dgm:bulletEnabled val="1"/>
        </dgm:presLayoutVars>
      </dgm:prSet>
      <dgm:spPr/>
    </dgm:pt>
  </dgm:ptLst>
  <dgm:cxnLst>
    <dgm:cxn modelId="{1E32780A-4FAC-41BD-981A-7DE14A3F1293}" type="presOf" srcId="{6E230190-7E63-48E0-BBC2-D315C9EA69A3}" destId="{C83FF1F4-62E2-42F0-B90E-860E2F000099}" srcOrd="0" destOrd="0" presId="urn:microsoft.com/office/officeart/2005/8/layout/vList5"/>
    <dgm:cxn modelId="{90B3AB0B-8361-4531-94EB-9CE2074D63CF}" type="presOf" srcId="{ED2F0E59-8E61-47F8-ACB0-23A508A7900D}" destId="{632DCF8C-5311-4148-A5CA-3F649FB2B46B}" srcOrd="0" destOrd="0" presId="urn:microsoft.com/office/officeart/2005/8/layout/vList5"/>
    <dgm:cxn modelId="{886BBD1A-541E-4A8B-AF7C-798C3A7737A1}" srcId="{ED2F0E59-8E61-47F8-ACB0-23A508A7900D}" destId="{745B79A0-DBC4-4AAE-9BEB-08A5567FB765}" srcOrd="1" destOrd="0" parTransId="{252B9DC1-61FC-4F93-9344-73E53F75ED55}" sibTransId="{768D6CBF-6137-45AD-9643-4DCCD9B102B6}"/>
    <dgm:cxn modelId="{9BDE7222-5B8F-4A6F-BE67-493A1275FB13}" srcId="{0DD8F816-505F-46D9-9E5E-982A71C7D714}" destId="{564A4CAF-6BED-4391-A456-367F5536AE82}" srcOrd="0" destOrd="0" parTransId="{37D7917F-613F-4A57-B29E-68ACF8D18451}" sibTransId="{92C263E0-8A0B-42AF-A509-AE03AA96B67F}"/>
    <dgm:cxn modelId="{77F7072A-3E80-4FBC-AEFD-30D7505BC20B}" type="presOf" srcId="{0DD8F816-505F-46D9-9E5E-982A71C7D714}" destId="{22202FDF-5F02-4113-8754-8A16BB14CD1B}" srcOrd="0" destOrd="0" presId="urn:microsoft.com/office/officeart/2005/8/layout/vList5"/>
    <dgm:cxn modelId="{88F08237-1490-4E9E-AED2-9BA1F229650F}" srcId="{0651F142-F8C6-4152-90CA-F3020E25AF94}" destId="{54793312-2CC5-4E57-A60B-2165DFCF8671}" srcOrd="1" destOrd="0" parTransId="{E28A8E2F-C9D9-4451-B59C-23258E3AC8D5}" sibTransId="{FBF76853-5C01-4131-9DA5-FB20F3D8E47A}"/>
    <dgm:cxn modelId="{4BABF340-1510-4E8C-9027-B8D4FE6CF538}" type="presOf" srcId="{08808A8C-050B-4CF6-B3E7-DEC17D6EBED3}" destId="{3CC66BC2-0ED9-4686-8CEE-3590CC3E08F0}" srcOrd="0" destOrd="0" presId="urn:microsoft.com/office/officeart/2005/8/layout/vList5"/>
    <dgm:cxn modelId="{F3E1755E-D071-41F2-90C1-24582DE6DCBF}" type="presOf" srcId="{564A4CAF-6BED-4391-A456-367F5536AE82}" destId="{AC98A029-2590-44D6-98F2-6A40844B9CDE}" srcOrd="0" destOrd="0" presId="urn:microsoft.com/office/officeart/2005/8/layout/vList5"/>
    <dgm:cxn modelId="{8588AD62-E3A5-4C04-A800-89381926D88E}" srcId="{6E230190-7E63-48E0-BBC2-D315C9EA69A3}" destId="{ED2F0E59-8E61-47F8-ACB0-23A508A7900D}" srcOrd="1" destOrd="0" parTransId="{AAF4D68F-0AD0-4DBA-A97A-1EFC8728F85C}" sibTransId="{3C7AA2FA-A800-4C94-8F59-BD794F97BE7B}"/>
    <dgm:cxn modelId="{93018B47-6051-4E82-BA3D-DA3A12A99698}" srcId="{0651F142-F8C6-4152-90CA-F3020E25AF94}" destId="{08808A8C-050B-4CF6-B3E7-DEC17D6EBED3}" srcOrd="0" destOrd="0" parTransId="{CB38DB60-7861-47D1-9B8A-CC717259CB25}" sibTransId="{9756C21F-10F2-43DC-9525-937AC2B2C68D}"/>
    <dgm:cxn modelId="{B658C267-D735-4399-91B8-B761EF65E7E6}" type="presOf" srcId="{745B79A0-DBC4-4AAE-9BEB-08A5567FB765}" destId="{7F38734F-66AA-450C-BADD-12FF1B9B491A}" srcOrd="0" destOrd="1" presId="urn:microsoft.com/office/officeart/2005/8/layout/vList5"/>
    <dgm:cxn modelId="{3A2E5E52-1540-48DA-AB6E-F16BB438AF25}" type="presOf" srcId="{9AAFA0EE-8D5E-4448-A2ED-063B40FF854C}" destId="{7F38734F-66AA-450C-BADD-12FF1B9B491A}" srcOrd="0" destOrd="0" presId="urn:microsoft.com/office/officeart/2005/8/layout/vList5"/>
    <dgm:cxn modelId="{3A6A8358-AE47-40CC-A5B5-2838D8691FB1}" srcId="{6E230190-7E63-48E0-BBC2-D315C9EA69A3}" destId="{0651F142-F8C6-4152-90CA-F3020E25AF94}" srcOrd="0" destOrd="0" parTransId="{A68A93A0-AED8-4474-9B23-BFC061172187}" sibTransId="{F710F2AE-6CA4-4E0F-AA23-BCA793054EA4}"/>
    <dgm:cxn modelId="{7F77F889-436F-4B48-9D98-F84FECC0BA93}" type="presOf" srcId="{0651F142-F8C6-4152-90CA-F3020E25AF94}" destId="{0021615B-DEF0-4CE7-9620-A22914F92A41}" srcOrd="0" destOrd="0" presId="urn:microsoft.com/office/officeart/2005/8/layout/vList5"/>
    <dgm:cxn modelId="{C3737892-9272-42E3-8EFC-A7099E1EAFE0}" srcId="{0651F142-F8C6-4152-90CA-F3020E25AF94}" destId="{D0F0FE18-F3E1-4066-ABCB-C5372D9B8252}" srcOrd="2" destOrd="0" parTransId="{4AAAC577-4C33-4B3A-84C3-DAF94B2C0785}" sibTransId="{10066588-73ED-4F4B-B449-AAF1D74A5241}"/>
    <dgm:cxn modelId="{32C41F97-C7D6-4427-8C76-5EC90594F52E}" type="presOf" srcId="{D0F0FE18-F3E1-4066-ABCB-C5372D9B8252}" destId="{3CC66BC2-0ED9-4686-8CEE-3590CC3E08F0}" srcOrd="0" destOrd="2" presId="urn:microsoft.com/office/officeart/2005/8/layout/vList5"/>
    <dgm:cxn modelId="{B9F7E0BD-2241-4944-BAF5-E2B225F81D48}" type="presOf" srcId="{DECBBA5C-3CE5-4F4E-85E4-41C2F965CABE}" destId="{AC98A029-2590-44D6-98F2-6A40844B9CDE}" srcOrd="0" destOrd="1" presId="urn:microsoft.com/office/officeart/2005/8/layout/vList5"/>
    <dgm:cxn modelId="{E36733BF-36DC-410A-A6CB-4DA4815917FA}" srcId="{6E230190-7E63-48E0-BBC2-D315C9EA69A3}" destId="{0DD8F816-505F-46D9-9E5E-982A71C7D714}" srcOrd="2" destOrd="0" parTransId="{44F8823D-F548-48ED-B1C6-5040381C40D8}" sibTransId="{0EB1F547-87A2-4CB8-9DB7-013B45DEFC9B}"/>
    <dgm:cxn modelId="{971CFACE-BF75-4B88-8387-117CDD3BF257}" srcId="{ED2F0E59-8E61-47F8-ACB0-23A508A7900D}" destId="{9AAFA0EE-8D5E-4448-A2ED-063B40FF854C}" srcOrd="0" destOrd="0" parTransId="{3F6C9CFF-E2D2-4C4A-BB89-C3A864800886}" sibTransId="{25B2B0CA-577B-4C0D-88AE-25730B6FF4E8}"/>
    <dgm:cxn modelId="{BA353FD1-6C68-48EC-9189-DDDEE169CE6C}" srcId="{0DD8F816-505F-46D9-9E5E-982A71C7D714}" destId="{DECBBA5C-3CE5-4F4E-85E4-41C2F965CABE}" srcOrd="1" destOrd="0" parTransId="{6D975A47-AB02-473F-8C7A-243D1CBF63B1}" sibTransId="{158C35F8-655E-40A6-83CB-16B03EFF9719}"/>
    <dgm:cxn modelId="{0156CCE2-7E47-4FD9-B408-8B157BBBE64D}" type="presOf" srcId="{54793312-2CC5-4E57-A60B-2165DFCF8671}" destId="{3CC66BC2-0ED9-4686-8CEE-3590CC3E08F0}" srcOrd="0" destOrd="1" presId="urn:microsoft.com/office/officeart/2005/8/layout/vList5"/>
    <dgm:cxn modelId="{3FDE3308-3403-42A8-9D9C-8DF8FD91AAB2}" type="presParOf" srcId="{C83FF1F4-62E2-42F0-B90E-860E2F000099}" destId="{ED06C634-313A-4C5F-B1DA-E7D0ABA62018}" srcOrd="0" destOrd="0" presId="urn:microsoft.com/office/officeart/2005/8/layout/vList5"/>
    <dgm:cxn modelId="{EB483296-C16D-4FE9-9FB8-BCF6025874BC}" type="presParOf" srcId="{ED06C634-313A-4C5F-B1DA-E7D0ABA62018}" destId="{0021615B-DEF0-4CE7-9620-A22914F92A41}" srcOrd="0" destOrd="0" presId="urn:microsoft.com/office/officeart/2005/8/layout/vList5"/>
    <dgm:cxn modelId="{7FE00465-F6C9-4A83-A2B1-79C0C87193ED}" type="presParOf" srcId="{ED06C634-313A-4C5F-B1DA-E7D0ABA62018}" destId="{3CC66BC2-0ED9-4686-8CEE-3590CC3E08F0}" srcOrd="1" destOrd="0" presId="urn:microsoft.com/office/officeart/2005/8/layout/vList5"/>
    <dgm:cxn modelId="{8CD4172F-7158-4FA8-8E4A-50AE32D4D324}" type="presParOf" srcId="{C83FF1F4-62E2-42F0-B90E-860E2F000099}" destId="{5150AD3F-C0DF-427D-8793-9A69221C22FC}" srcOrd="1" destOrd="0" presId="urn:microsoft.com/office/officeart/2005/8/layout/vList5"/>
    <dgm:cxn modelId="{F7B83CFE-1DB0-4E73-A534-77BDC6E3ACED}" type="presParOf" srcId="{C83FF1F4-62E2-42F0-B90E-860E2F000099}" destId="{4FAB6A74-FF71-4980-81D5-AC4EBF8418B8}" srcOrd="2" destOrd="0" presId="urn:microsoft.com/office/officeart/2005/8/layout/vList5"/>
    <dgm:cxn modelId="{2B84DA66-518F-4183-92B7-9B8CCB4DCBBB}" type="presParOf" srcId="{4FAB6A74-FF71-4980-81D5-AC4EBF8418B8}" destId="{632DCF8C-5311-4148-A5CA-3F649FB2B46B}" srcOrd="0" destOrd="0" presId="urn:microsoft.com/office/officeart/2005/8/layout/vList5"/>
    <dgm:cxn modelId="{CBDE6B0F-AC65-456F-92BA-2E7384842AF8}" type="presParOf" srcId="{4FAB6A74-FF71-4980-81D5-AC4EBF8418B8}" destId="{7F38734F-66AA-450C-BADD-12FF1B9B491A}" srcOrd="1" destOrd="0" presId="urn:microsoft.com/office/officeart/2005/8/layout/vList5"/>
    <dgm:cxn modelId="{61B37315-3CE2-4C13-AE53-075743355B97}" type="presParOf" srcId="{C83FF1F4-62E2-42F0-B90E-860E2F000099}" destId="{E9F2A4C9-CA58-4584-9F10-5E70AD4BB4F0}" srcOrd="3" destOrd="0" presId="urn:microsoft.com/office/officeart/2005/8/layout/vList5"/>
    <dgm:cxn modelId="{D01054C0-9279-4236-A9B4-D7603B506DCF}" type="presParOf" srcId="{C83FF1F4-62E2-42F0-B90E-860E2F000099}" destId="{389364AD-B5C1-4938-BC0D-575F69BAD03F}" srcOrd="4" destOrd="0" presId="urn:microsoft.com/office/officeart/2005/8/layout/vList5"/>
    <dgm:cxn modelId="{DBC74FFE-D99E-4225-9BEC-B77094AF81B3}" type="presParOf" srcId="{389364AD-B5C1-4938-BC0D-575F69BAD03F}" destId="{22202FDF-5F02-4113-8754-8A16BB14CD1B}" srcOrd="0" destOrd="0" presId="urn:microsoft.com/office/officeart/2005/8/layout/vList5"/>
    <dgm:cxn modelId="{4F4D054F-BD75-48B3-AA73-66826BEE2832}" type="presParOf" srcId="{389364AD-B5C1-4938-BC0D-575F69BAD03F}" destId="{AC98A029-2590-44D6-98F2-6A40844B9CD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66BC2-0ED9-4686-8CEE-3590CC3E08F0}">
      <dsp:nvSpPr>
        <dsp:cNvPr id="0" name=""/>
        <dsp:cNvSpPr/>
      </dsp:nvSpPr>
      <dsp:spPr>
        <a:xfrm rot="5400000">
          <a:off x="5368090" y="-2174759"/>
          <a:ext cx="897347" cy="5474601"/>
        </a:xfrm>
        <a:prstGeom prst="round2SameRect">
          <a:avLst/>
        </a:prstGeom>
        <a:solidFill>
          <a:schemeClr val="accent1">
            <a:alpha val="90000"/>
            <a:tint val="40000"/>
            <a:hueOff val="0"/>
            <a:satOff val="0"/>
            <a:lumOff val="0"/>
            <a:alphaOff val="0"/>
          </a:schemeClr>
        </a:solidFill>
        <a:ln w="34925"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Commission hearings and testimony</a:t>
          </a:r>
        </a:p>
        <a:p>
          <a:pPr marL="171450" lvl="1" indent="-171450" algn="l" defTabSz="755650">
            <a:lnSpc>
              <a:spcPct val="90000"/>
            </a:lnSpc>
            <a:spcBef>
              <a:spcPct val="0"/>
            </a:spcBef>
            <a:spcAft>
              <a:spcPct val="15000"/>
            </a:spcAft>
            <a:buChar char="•"/>
          </a:pPr>
          <a:r>
            <a:rPr lang="en-US" sz="1700" kern="1200"/>
            <a:t>Federal report labels incarceration as injustice</a:t>
          </a:r>
        </a:p>
        <a:p>
          <a:pPr marL="171450" lvl="1" indent="-171450" algn="l" defTabSz="755650">
            <a:lnSpc>
              <a:spcPct val="90000"/>
            </a:lnSpc>
            <a:spcBef>
              <a:spcPct val="0"/>
            </a:spcBef>
            <a:spcAft>
              <a:spcPct val="15000"/>
            </a:spcAft>
            <a:buChar char="•"/>
          </a:pPr>
          <a:endParaRPr lang="en-US" sz="1700" kern="1200"/>
        </a:p>
      </dsp:txBody>
      <dsp:txXfrm rot="-5400000">
        <a:off x="3079464" y="157672"/>
        <a:ext cx="5430796" cy="809737"/>
      </dsp:txXfrm>
    </dsp:sp>
    <dsp:sp modelId="{0021615B-DEF0-4CE7-9620-A22914F92A41}">
      <dsp:nvSpPr>
        <dsp:cNvPr id="0" name=""/>
        <dsp:cNvSpPr/>
      </dsp:nvSpPr>
      <dsp:spPr>
        <a:xfrm>
          <a:off x="0" y="1699"/>
          <a:ext cx="3079463" cy="1121683"/>
        </a:xfrm>
        <a:prstGeom prst="round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l" defTabSz="889000">
            <a:lnSpc>
              <a:spcPct val="90000"/>
            </a:lnSpc>
            <a:spcBef>
              <a:spcPct val="0"/>
            </a:spcBef>
            <a:spcAft>
              <a:spcPct val="35000"/>
            </a:spcAft>
            <a:buNone/>
          </a:pPr>
          <a:r>
            <a:rPr lang="en-US" sz="2000" kern="1200" dirty="0"/>
            <a:t>1) Build an official record</a:t>
          </a:r>
        </a:p>
      </dsp:txBody>
      <dsp:txXfrm>
        <a:off x="54756" y="56455"/>
        <a:ext cx="2969951" cy="1012171"/>
      </dsp:txXfrm>
    </dsp:sp>
    <dsp:sp modelId="{7F38734F-66AA-450C-BADD-12FF1B9B491A}">
      <dsp:nvSpPr>
        <dsp:cNvPr id="0" name=""/>
        <dsp:cNvSpPr/>
      </dsp:nvSpPr>
      <dsp:spPr>
        <a:xfrm rot="5400000">
          <a:off x="5368090" y="-996991"/>
          <a:ext cx="897347" cy="5474601"/>
        </a:xfrm>
        <a:prstGeom prst="round2SameRect">
          <a:avLst/>
        </a:prstGeom>
        <a:solidFill>
          <a:schemeClr val="accent1">
            <a:alpha val="90000"/>
            <a:tint val="40000"/>
            <a:hueOff val="0"/>
            <a:satOff val="0"/>
            <a:lumOff val="0"/>
            <a:alphaOff val="0"/>
          </a:schemeClr>
        </a:solidFill>
        <a:ln w="34925"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Lobbying and coalition-building</a:t>
          </a:r>
        </a:p>
        <a:p>
          <a:pPr marL="171450" lvl="1" indent="-171450" algn="l" defTabSz="755650">
            <a:lnSpc>
              <a:spcPct val="90000"/>
            </a:lnSpc>
            <a:spcBef>
              <a:spcPct val="0"/>
            </a:spcBef>
            <a:spcAft>
              <a:spcPct val="15000"/>
            </a:spcAft>
            <a:buChar char="•"/>
          </a:pPr>
          <a:r>
            <a:rPr lang="en-US" sz="1700" kern="1200" dirty="0"/>
            <a:t>Use "redress" framing to win votes</a:t>
          </a:r>
        </a:p>
      </dsp:txBody>
      <dsp:txXfrm rot="-5400000">
        <a:off x="3079464" y="1335440"/>
        <a:ext cx="5430796" cy="809737"/>
      </dsp:txXfrm>
    </dsp:sp>
    <dsp:sp modelId="{632DCF8C-5311-4148-A5CA-3F649FB2B46B}">
      <dsp:nvSpPr>
        <dsp:cNvPr id="0" name=""/>
        <dsp:cNvSpPr/>
      </dsp:nvSpPr>
      <dsp:spPr>
        <a:xfrm>
          <a:off x="0" y="1179467"/>
          <a:ext cx="3079463" cy="1121683"/>
        </a:xfrm>
        <a:prstGeom prst="round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l" defTabSz="889000">
            <a:lnSpc>
              <a:spcPct val="90000"/>
            </a:lnSpc>
            <a:spcBef>
              <a:spcPct val="0"/>
            </a:spcBef>
            <a:spcAft>
              <a:spcPct val="35000"/>
            </a:spcAft>
            <a:buNone/>
          </a:pPr>
          <a:r>
            <a:rPr lang="en-US" sz="2000" kern="1200" dirty="0"/>
            <a:t>2) Pressure Congress</a:t>
          </a:r>
        </a:p>
      </dsp:txBody>
      <dsp:txXfrm>
        <a:off x="54756" y="1234223"/>
        <a:ext cx="2969951" cy="1012171"/>
      </dsp:txXfrm>
    </dsp:sp>
    <dsp:sp modelId="{AC98A029-2590-44D6-98F2-6A40844B9CDE}">
      <dsp:nvSpPr>
        <dsp:cNvPr id="0" name=""/>
        <dsp:cNvSpPr/>
      </dsp:nvSpPr>
      <dsp:spPr>
        <a:xfrm rot="5400000">
          <a:off x="5368090" y="180776"/>
          <a:ext cx="897347" cy="5474601"/>
        </a:xfrm>
        <a:prstGeom prst="round2SameRect">
          <a:avLst/>
        </a:prstGeom>
        <a:solidFill>
          <a:schemeClr val="accent1">
            <a:alpha val="90000"/>
            <a:tint val="40000"/>
            <a:hueOff val="0"/>
            <a:satOff val="0"/>
            <a:lumOff val="0"/>
            <a:alphaOff val="0"/>
          </a:schemeClr>
        </a:solidFill>
        <a:ln w="34925"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Community materials and programs</a:t>
          </a:r>
        </a:p>
        <a:p>
          <a:pPr marL="171450" lvl="1" indent="-171450" algn="l" defTabSz="755650">
            <a:lnSpc>
              <a:spcPct val="90000"/>
            </a:lnSpc>
            <a:spcBef>
              <a:spcPct val="0"/>
            </a:spcBef>
            <a:spcAft>
              <a:spcPct val="15000"/>
            </a:spcAft>
            <a:buChar char="•"/>
          </a:pPr>
          <a:r>
            <a:rPr lang="en-US" sz="1700" kern="1200" dirty="0"/>
            <a:t>Keep the issue visible over time</a:t>
          </a:r>
        </a:p>
      </dsp:txBody>
      <dsp:txXfrm rot="-5400000">
        <a:off x="3079464" y="2513208"/>
        <a:ext cx="5430796" cy="809737"/>
      </dsp:txXfrm>
    </dsp:sp>
    <dsp:sp modelId="{22202FDF-5F02-4113-8754-8A16BB14CD1B}">
      <dsp:nvSpPr>
        <dsp:cNvPr id="0" name=""/>
        <dsp:cNvSpPr/>
      </dsp:nvSpPr>
      <dsp:spPr>
        <a:xfrm>
          <a:off x="0" y="2357235"/>
          <a:ext cx="3079463" cy="1121683"/>
        </a:xfrm>
        <a:prstGeom prst="round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l" defTabSz="889000">
            <a:lnSpc>
              <a:spcPct val="90000"/>
            </a:lnSpc>
            <a:spcBef>
              <a:spcPct val="0"/>
            </a:spcBef>
            <a:spcAft>
              <a:spcPct val="35000"/>
            </a:spcAft>
            <a:buNone/>
          </a:pPr>
          <a:r>
            <a:rPr lang="en-US" sz="2000" kern="1200" dirty="0"/>
            <a:t>3) Public education</a:t>
          </a:r>
        </a:p>
      </dsp:txBody>
      <dsp:txXfrm>
        <a:off x="54756" y="2411991"/>
        <a:ext cx="2969951" cy="101217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1/6/2026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1/6/2026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1/6/2026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6782C-BABB-E9D6-E031-430865B48F7D}"/>
              </a:ext>
            </a:extLst>
          </p:cNvPr>
          <p:cNvSpPr>
            <a:spLocks noGrp="1"/>
          </p:cNvSpPr>
          <p:nvPr>
            <p:ph type="ctrTitle"/>
          </p:nvPr>
        </p:nvSpPr>
        <p:spPr/>
        <p:txBody>
          <a:bodyPr/>
          <a:lstStyle/>
          <a:p>
            <a:r>
              <a:rPr lang="en-US" sz="6000" dirty="0"/>
              <a:t>Civil Rights &amp; Redress (1877-2000)</a:t>
            </a:r>
          </a:p>
        </p:txBody>
      </p:sp>
      <p:sp>
        <p:nvSpPr>
          <p:cNvPr id="3" name="Subtitle 2">
            <a:extLst>
              <a:ext uri="{FF2B5EF4-FFF2-40B4-BE49-F238E27FC236}">
                <a16:creationId xmlns:a16="http://schemas.microsoft.com/office/drawing/2014/main" id="{C9D7382D-C96E-85F1-BF95-C4C4BDADF302}"/>
              </a:ext>
            </a:extLst>
          </p:cNvPr>
          <p:cNvSpPr>
            <a:spLocks noGrp="1"/>
          </p:cNvSpPr>
          <p:nvPr>
            <p:ph type="subTitle" idx="1"/>
          </p:nvPr>
        </p:nvSpPr>
        <p:spPr>
          <a:xfrm>
            <a:off x="2679906" y="3956280"/>
            <a:ext cx="6831673" cy="969682"/>
          </a:xfrm>
        </p:spPr>
        <p:txBody>
          <a:bodyPr/>
          <a:lstStyle/>
          <a:p>
            <a:r>
              <a:rPr lang="en-US" dirty="0"/>
              <a:t>Japanese American Redress Movement  vs.  Disability Rights Movement</a:t>
            </a:r>
          </a:p>
        </p:txBody>
      </p:sp>
    </p:spTree>
    <p:extLst>
      <p:ext uri="{BB962C8B-B14F-4D97-AF65-F5344CB8AC3E}">
        <p14:creationId xmlns:p14="http://schemas.microsoft.com/office/powerpoint/2010/main" val="2072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BC92C-5239-09BF-55D4-AA5E7C4E7521}"/>
              </a:ext>
            </a:extLst>
          </p:cNvPr>
          <p:cNvSpPr>
            <a:spLocks noGrp="1"/>
          </p:cNvSpPr>
          <p:nvPr>
            <p:ph type="title"/>
          </p:nvPr>
        </p:nvSpPr>
        <p:spPr>
          <a:xfrm>
            <a:off x="1587909" y="454968"/>
            <a:ext cx="9601200" cy="661219"/>
          </a:xfrm>
        </p:spPr>
        <p:txBody>
          <a:bodyPr>
            <a:normAutofit/>
          </a:bodyPr>
          <a:lstStyle/>
          <a:p>
            <a:r>
              <a:rPr lang="en-US" sz="4000" dirty="0"/>
              <a:t>Movement 1: Japanese American Redress</a:t>
            </a:r>
          </a:p>
        </p:txBody>
      </p:sp>
      <p:sp>
        <p:nvSpPr>
          <p:cNvPr id="3" name="Content Placeholder 2">
            <a:extLst>
              <a:ext uri="{FF2B5EF4-FFF2-40B4-BE49-F238E27FC236}">
                <a16:creationId xmlns:a16="http://schemas.microsoft.com/office/drawing/2014/main" id="{232C113E-5285-F6A4-7B0D-5DFDC9DF31B1}"/>
              </a:ext>
            </a:extLst>
          </p:cNvPr>
          <p:cNvSpPr>
            <a:spLocks noGrp="1"/>
          </p:cNvSpPr>
          <p:nvPr>
            <p:ph idx="1"/>
          </p:nvPr>
        </p:nvSpPr>
        <p:spPr>
          <a:xfrm>
            <a:off x="1371600" y="1347019"/>
            <a:ext cx="6690852" cy="4825181"/>
          </a:xfrm>
        </p:spPr>
        <p:txBody>
          <a:bodyPr>
            <a:normAutofit fontScale="85000" lnSpcReduction="20000"/>
          </a:bodyPr>
          <a:lstStyle/>
          <a:p>
            <a:r>
              <a:rPr lang="en-US" dirty="0"/>
              <a:t>Injustice - Redress for WWII incarceration</a:t>
            </a:r>
          </a:p>
          <a:p>
            <a:pPr marL="0" indent="0" algn="ctr">
              <a:buNone/>
            </a:pPr>
            <a:r>
              <a:rPr lang="en-US" b="1" u="sng" dirty="0"/>
              <a:t>Timeline</a:t>
            </a:r>
          </a:p>
          <a:p>
            <a:pPr lvl="1">
              <a:buFont typeface="Wingdings" panose="05000000000000000000" pitchFamily="2" charset="2"/>
              <a:buChar char="§"/>
            </a:pPr>
            <a:r>
              <a:rPr lang="en-US" i="0" dirty="0"/>
              <a:t>1942- 45: Incarceration during WWII</a:t>
            </a:r>
          </a:p>
          <a:p>
            <a:pPr lvl="1">
              <a:buFont typeface="Wingdings" panose="05000000000000000000" pitchFamily="2" charset="2"/>
              <a:buChar char="§"/>
            </a:pPr>
            <a:r>
              <a:rPr lang="en-US" i="0" dirty="0"/>
              <a:t>1980: Commission created (CWRIC)</a:t>
            </a:r>
          </a:p>
          <a:p>
            <a:pPr lvl="1">
              <a:buFont typeface="Wingdings" panose="05000000000000000000" pitchFamily="2" charset="2"/>
              <a:buChar char="§"/>
            </a:pPr>
            <a:r>
              <a:rPr lang="en-US" i="0" dirty="0"/>
              <a:t>1982: Personal Justice Denied (report)</a:t>
            </a:r>
          </a:p>
          <a:p>
            <a:pPr lvl="1">
              <a:buFont typeface="Wingdings" panose="05000000000000000000" pitchFamily="2" charset="2"/>
              <a:buChar char="§"/>
            </a:pPr>
            <a:r>
              <a:rPr lang="en-US" i="0" dirty="0"/>
              <a:t>1988: Civil Liberties Act - apology and payments</a:t>
            </a:r>
          </a:p>
          <a:p>
            <a:r>
              <a:rPr lang="en-US" b="1" dirty="0"/>
              <a:t>Goal</a:t>
            </a:r>
            <a:r>
              <a:rPr lang="en-US" dirty="0"/>
              <a:t>: Official acknowledgment and reparations for a specific past injustice.</a:t>
            </a:r>
          </a:p>
          <a:p>
            <a:r>
              <a:rPr lang="en-US" b="1" u="sng" dirty="0"/>
              <a:t>Primary source (Poster)</a:t>
            </a:r>
          </a:p>
          <a:p>
            <a:pPr lvl="1">
              <a:buFont typeface="Wingdings" panose="05000000000000000000" pitchFamily="2" charset="2"/>
              <a:buChar char="q"/>
            </a:pPr>
            <a:r>
              <a:rPr lang="en-US" i="0" dirty="0"/>
              <a:t>Created by the National Coalition for Redress and Reparations (1990s)</a:t>
            </a:r>
          </a:p>
          <a:p>
            <a:pPr lvl="1">
              <a:buFont typeface="Wingdings" panose="05000000000000000000" pitchFamily="2" charset="2"/>
              <a:buChar char="q"/>
            </a:pPr>
            <a:r>
              <a:rPr lang="en-US" i="0" dirty="0"/>
              <a:t>Used to inform and mobilize the public about the redress bill</a:t>
            </a:r>
          </a:p>
          <a:p>
            <a:pPr lvl="1">
              <a:buFont typeface="Wingdings" panose="05000000000000000000" pitchFamily="2" charset="2"/>
              <a:buChar char="q"/>
            </a:pPr>
            <a:r>
              <a:rPr lang="en-US" i="0" dirty="0"/>
              <a:t>Emphasizes that justice delayed is justice denied</a:t>
            </a:r>
          </a:p>
          <a:p>
            <a:pPr lvl="1">
              <a:buFont typeface="Wingdings" panose="05000000000000000000" pitchFamily="2" charset="2"/>
              <a:buChar char="q"/>
            </a:pPr>
            <a:r>
              <a:rPr lang="en-US" i="0" dirty="0"/>
              <a:t>Shows grassroots organizing, not court action</a:t>
            </a:r>
          </a:p>
          <a:p>
            <a:pPr lvl="1">
              <a:buFont typeface="Wingdings" panose="05000000000000000000" pitchFamily="2" charset="2"/>
              <a:buChar char="q"/>
            </a:pPr>
            <a:r>
              <a:rPr lang="en-US" i="0" dirty="0"/>
              <a:t>Helped build public pressure on Congress</a:t>
            </a:r>
          </a:p>
          <a:p>
            <a:pPr lvl="1">
              <a:buFont typeface="Wingdings" panose="05000000000000000000" pitchFamily="2" charset="2"/>
              <a:buChar char="q"/>
            </a:pPr>
            <a:r>
              <a:rPr lang="en-US" i="0" dirty="0"/>
              <a:t>Supports demand for apology and reparations for WWII incarceration</a:t>
            </a:r>
          </a:p>
        </p:txBody>
      </p:sp>
      <p:pic>
        <p:nvPicPr>
          <p:cNvPr id="5" name="Picture 4">
            <a:extLst>
              <a:ext uri="{FF2B5EF4-FFF2-40B4-BE49-F238E27FC236}">
                <a16:creationId xmlns:a16="http://schemas.microsoft.com/office/drawing/2014/main" id="{0287D448-7E00-4A8B-9095-A94779779701}"/>
              </a:ext>
            </a:extLst>
          </p:cNvPr>
          <p:cNvPicPr>
            <a:picLocks noChangeAspect="1"/>
          </p:cNvPicPr>
          <p:nvPr/>
        </p:nvPicPr>
        <p:blipFill>
          <a:blip r:embed="rId2"/>
          <a:stretch>
            <a:fillRect/>
          </a:stretch>
        </p:blipFill>
        <p:spPr>
          <a:xfrm>
            <a:off x="8150942" y="1347019"/>
            <a:ext cx="3775587" cy="4790831"/>
          </a:xfrm>
          <a:prstGeom prst="rect">
            <a:avLst/>
          </a:prstGeom>
        </p:spPr>
      </p:pic>
      <p:sp>
        <p:nvSpPr>
          <p:cNvPr id="6" name="TextBox 5">
            <a:extLst>
              <a:ext uri="{FF2B5EF4-FFF2-40B4-BE49-F238E27FC236}">
                <a16:creationId xmlns:a16="http://schemas.microsoft.com/office/drawing/2014/main" id="{9A59CC5C-5C42-43CB-99F5-B9C2229894E7}"/>
              </a:ext>
            </a:extLst>
          </p:cNvPr>
          <p:cNvSpPr txBox="1"/>
          <p:nvPr/>
        </p:nvSpPr>
        <p:spPr>
          <a:xfrm>
            <a:off x="8150942" y="6137850"/>
            <a:ext cx="3864077" cy="230832"/>
          </a:xfrm>
          <a:prstGeom prst="rect">
            <a:avLst/>
          </a:prstGeom>
          <a:noFill/>
        </p:spPr>
        <p:txBody>
          <a:bodyPr wrap="square" rtlCol="0">
            <a:spAutoFit/>
          </a:bodyPr>
          <a:lstStyle/>
          <a:p>
            <a:pPr algn="ctr"/>
            <a:r>
              <a:rPr lang="en-US" sz="900" dirty="0"/>
              <a:t>Poster informing the public about a program regarding the redress bill </a:t>
            </a:r>
          </a:p>
        </p:txBody>
      </p:sp>
      <p:sp>
        <p:nvSpPr>
          <p:cNvPr id="9" name="Shape 11">
            <a:extLst>
              <a:ext uri="{FF2B5EF4-FFF2-40B4-BE49-F238E27FC236}">
                <a16:creationId xmlns:a16="http://schemas.microsoft.com/office/drawing/2014/main" id="{0CA37420-A62C-D4B6-A501-ABB23282A5EF}"/>
              </a:ext>
            </a:extLst>
          </p:cNvPr>
          <p:cNvSpPr/>
          <p:nvPr/>
        </p:nvSpPr>
        <p:spPr>
          <a:xfrm>
            <a:off x="1371600" y="6191864"/>
            <a:ext cx="6779341" cy="435078"/>
          </a:xfrm>
          <a:prstGeom prst="roundRect">
            <a:avLst/>
          </a:prstGeom>
          <a:solidFill>
            <a:srgbClr val="00B0F0"/>
          </a:solidFill>
          <a:ln w="12700">
            <a:solidFill>
              <a:srgbClr val="F2C76E"/>
            </a:solidFill>
            <a:prstDash val="solid"/>
          </a:ln>
          <a:effectLst>
            <a:outerShdw blurRad="38100" dist="19050" dir="2700000" algn="bl" rotWithShape="0">
              <a:srgbClr val="000000">
                <a:alpha val="12000"/>
              </a:srgbClr>
            </a:outerShdw>
          </a:effectLst>
        </p:spPr>
        <p:txBody>
          <a:bodyPr/>
          <a:lstStyle/>
          <a:p>
            <a:r>
              <a:rPr lang="en-US" b="1" dirty="0"/>
              <a:t>Result</a:t>
            </a:r>
            <a:r>
              <a:rPr lang="en-US" dirty="0"/>
              <a:t>: Civil Liberties Act (1988) - formal apology and reparations</a:t>
            </a:r>
          </a:p>
        </p:txBody>
      </p:sp>
    </p:spTree>
    <p:extLst>
      <p:ext uri="{BB962C8B-B14F-4D97-AF65-F5344CB8AC3E}">
        <p14:creationId xmlns:p14="http://schemas.microsoft.com/office/powerpoint/2010/main" val="9994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608E-2CDE-AEE1-D8F4-DCE5BD7B3898}"/>
              </a:ext>
            </a:extLst>
          </p:cNvPr>
          <p:cNvSpPr>
            <a:spLocks noGrp="1"/>
          </p:cNvSpPr>
          <p:nvPr>
            <p:ph type="title"/>
          </p:nvPr>
        </p:nvSpPr>
        <p:spPr>
          <a:xfrm>
            <a:off x="1371600" y="685800"/>
            <a:ext cx="9601200" cy="651387"/>
          </a:xfrm>
        </p:spPr>
        <p:txBody>
          <a:bodyPr>
            <a:normAutofit/>
          </a:bodyPr>
          <a:lstStyle/>
          <a:p>
            <a:r>
              <a:rPr lang="en-US" sz="3600" dirty="0"/>
              <a:t>Movement 1 strategies: how redress was won</a:t>
            </a:r>
          </a:p>
        </p:txBody>
      </p:sp>
      <p:graphicFrame>
        <p:nvGraphicFramePr>
          <p:cNvPr id="4" name="Content Placeholder 3">
            <a:extLst>
              <a:ext uri="{FF2B5EF4-FFF2-40B4-BE49-F238E27FC236}">
                <a16:creationId xmlns:a16="http://schemas.microsoft.com/office/drawing/2014/main" id="{8D360813-E999-147E-AB38-CC9BEF33EEB8}"/>
              </a:ext>
            </a:extLst>
          </p:cNvPr>
          <p:cNvGraphicFramePr>
            <a:graphicFrameLocks noGrp="1"/>
          </p:cNvGraphicFramePr>
          <p:nvPr>
            <p:ph idx="1"/>
            <p:extLst>
              <p:ext uri="{D42A27DB-BD31-4B8C-83A1-F6EECF244321}">
                <p14:modId xmlns:p14="http://schemas.microsoft.com/office/powerpoint/2010/main" val="2925961871"/>
              </p:ext>
            </p:extLst>
          </p:nvPr>
        </p:nvGraphicFramePr>
        <p:xfrm>
          <a:off x="1730476" y="1887794"/>
          <a:ext cx="8554065" cy="34806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hape 12">
            <a:extLst>
              <a:ext uri="{FF2B5EF4-FFF2-40B4-BE49-F238E27FC236}">
                <a16:creationId xmlns:a16="http://schemas.microsoft.com/office/drawing/2014/main" id="{B614E966-8CD8-997F-B029-59E5A796A3CC}"/>
              </a:ext>
            </a:extLst>
          </p:cNvPr>
          <p:cNvSpPr/>
          <p:nvPr/>
        </p:nvSpPr>
        <p:spPr>
          <a:xfrm>
            <a:off x="2803177" y="5664118"/>
            <a:ext cx="8435094" cy="509803"/>
          </a:xfrm>
          <a:prstGeom prst="roundRect">
            <a:avLst/>
          </a:prstGeom>
          <a:solidFill>
            <a:srgbClr val="00B0F0"/>
          </a:solidFill>
          <a:ln w="12700">
            <a:solidFill>
              <a:srgbClr val="F2C76E"/>
            </a:solidFill>
            <a:prstDash val="solid"/>
          </a:ln>
          <a:effectLst>
            <a:outerShdw blurRad="38100" dist="19050" dir="2700000" algn="bl" rotWithShape="0">
              <a:srgbClr val="000000">
                <a:alpha val="12000"/>
              </a:srgbClr>
            </a:outerShdw>
          </a:effectLst>
        </p:spPr>
        <p:txBody>
          <a:bodyPr/>
          <a:lstStyle/>
          <a:p>
            <a:r>
              <a:rPr lang="en-US" b="1" dirty="0"/>
              <a:t>Outcome</a:t>
            </a:r>
            <a:r>
              <a:rPr lang="en-US" dirty="0"/>
              <a:t>: A federal law (1988) provided an apology and monetary reparations.</a:t>
            </a:r>
          </a:p>
        </p:txBody>
      </p:sp>
    </p:spTree>
    <p:extLst>
      <p:ext uri="{BB962C8B-B14F-4D97-AF65-F5344CB8AC3E}">
        <p14:creationId xmlns:p14="http://schemas.microsoft.com/office/powerpoint/2010/main" val="1389033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A1C0-392B-AF08-B1FB-CDFC0D066372}"/>
              </a:ext>
            </a:extLst>
          </p:cNvPr>
          <p:cNvSpPr>
            <a:spLocks noGrp="1"/>
          </p:cNvSpPr>
          <p:nvPr>
            <p:ph type="title"/>
          </p:nvPr>
        </p:nvSpPr>
        <p:spPr>
          <a:xfrm>
            <a:off x="1371600" y="685800"/>
            <a:ext cx="9601200" cy="956187"/>
          </a:xfrm>
        </p:spPr>
        <p:txBody>
          <a:bodyPr/>
          <a:lstStyle/>
          <a:p>
            <a:pPr algn="ctr"/>
            <a:r>
              <a:rPr lang="en-US" dirty="0"/>
              <a:t>Movement 2: Disability Rights</a:t>
            </a:r>
          </a:p>
        </p:txBody>
      </p:sp>
      <p:sp>
        <p:nvSpPr>
          <p:cNvPr id="3" name="Content Placeholder 2">
            <a:extLst>
              <a:ext uri="{FF2B5EF4-FFF2-40B4-BE49-F238E27FC236}">
                <a16:creationId xmlns:a16="http://schemas.microsoft.com/office/drawing/2014/main" id="{4E238B5F-F277-6F63-1561-62B9CB6759A0}"/>
              </a:ext>
            </a:extLst>
          </p:cNvPr>
          <p:cNvSpPr>
            <a:spLocks noGrp="1"/>
          </p:cNvSpPr>
          <p:nvPr>
            <p:ph idx="1"/>
          </p:nvPr>
        </p:nvSpPr>
        <p:spPr>
          <a:xfrm>
            <a:off x="1371600" y="1641987"/>
            <a:ext cx="7015316" cy="4689987"/>
          </a:xfrm>
        </p:spPr>
        <p:txBody>
          <a:bodyPr>
            <a:normAutofit lnSpcReduction="10000"/>
          </a:bodyPr>
          <a:lstStyle/>
          <a:p>
            <a:r>
              <a:rPr lang="en-US" b="1" dirty="0"/>
              <a:t>Timeline</a:t>
            </a:r>
          </a:p>
          <a:p>
            <a:pPr lvl="1">
              <a:buFont typeface="Wingdings" panose="05000000000000000000" pitchFamily="2" charset="2"/>
              <a:buChar char="§"/>
            </a:pPr>
            <a:r>
              <a:rPr lang="en-US" i="0" dirty="0"/>
              <a:t>1973: Rehabilitation Act (Section 504)</a:t>
            </a:r>
          </a:p>
          <a:p>
            <a:pPr lvl="1">
              <a:buFont typeface="Wingdings" panose="05000000000000000000" pitchFamily="2" charset="2"/>
              <a:buChar char="§"/>
            </a:pPr>
            <a:r>
              <a:rPr lang="en-US" i="0" dirty="0"/>
              <a:t>1977: 504 sit-ins demand enforcement</a:t>
            </a:r>
          </a:p>
          <a:p>
            <a:pPr lvl="1">
              <a:buFont typeface="Wingdings" panose="05000000000000000000" pitchFamily="2" charset="2"/>
              <a:buChar char="§"/>
            </a:pPr>
            <a:r>
              <a:rPr lang="en-US" i="0" dirty="0"/>
              <a:t>1990: Americans with Disabilities Act (ADA)</a:t>
            </a:r>
          </a:p>
          <a:p>
            <a:r>
              <a:rPr lang="en-US" b="1" u="sng" dirty="0"/>
              <a:t>Primary source</a:t>
            </a:r>
            <a:endParaRPr lang="en-US" b="1" dirty="0"/>
          </a:p>
          <a:p>
            <a:pPr lvl="1">
              <a:buFont typeface="Wingdings" panose="05000000000000000000" pitchFamily="2" charset="2"/>
              <a:buChar char="§"/>
            </a:pPr>
            <a:r>
              <a:rPr lang="en-US" i="0" dirty="0"/>
              <a:t>Created by disability rights activists during the 1977 Section 504 sit-ins</a:t>
            </a:r>
          </a:p>
          <a:p>
            <a:pPr lvl="1">
              <a:buFont typeface="Wingdings" panose="05000000000000000000" pitchFamily="2" charset="2"/>
              <a:buChar char="§"/>
            </a:pPr>
            <a:r>
              <a:rPr lang="en-US" i="0" dirty="0"/>
              <a:t>Used to demand immediate enforcement of existing law</a:t>
            </a:r>
          </a:p>
          <a:p>
            <a:pPr lvl="1">
              <a:buFont typeface="Wingdings" panose="05000000000000000000" pitchFamily="2" charset="2"/>
              <a:buChar char="§"/>
            </a:pPr>
            <a:r>
              <a:rPr lang="en-US" i="0" dirty="0"/>
              <a:t>Shows direct action and protest as a key strategy</a:t>
            </a:r>
          </a:p>
          <a:p>
            <a:pPr lvl="1">
              <a:buFont typeface="Wingdings" panose="05000000000000000000" pitchFamily="2" charset="2"/>
              <a:buChar char="§"/>
            </a:pPr>
            <a:r>
              <a:rPr lang="en-US" i="0" dirty="0"/>
              <a:t>Emphasizes urgency: rights delayed are rights denied</a:t>
            </a:r>
          </a:p>
          <a:p>
            <a:pPr lvl="1">
              <a:buFont typeface="Wingdings" panose="05000000000000000000" pitchFamily="2" charset="2"/>
              <a:buChar char="§"/>
            </a:pPr>
            <a:r>
              <a:rPr lang="en-US" i="0" dirty="0"/>
              <a:t>Reflects frustration with government inaction</a:t>
            </a:r>
          </a:p>
          <a:p>
            <a:pPr lvl="1">
              <a:buFont typeface="Wingdings" panose="05000000000000000000" pitchFamily="2" charset="2"/>
              <a:buChar char="§"/>
            </a:pPr>
            <a:r>
              <a:rPr lang="en-US" i="0" dirty="0"/>
              <a:t>Helped push enforcement of Section 504 and later the ADA</a:t>
            </a:r>
          </a:p>
        </p:txBody>
      </p:sp>
      <p:pic>
        <p:nvPicPr>
          <p:cNvPr id="4" name="Picture 3">
            <a:extLst>
              <a:ext uri="{FF2B5EF4-FFF2-40B4-BE49-F238E27FC236}">
                <a16:creationId xmlns:a16="http://schemas.microsoft.com/office/drawing/2014/main" id="{CE946493-E7C0-75F3-50A0-C2F2D6CF2E38}"/>
              </a:ext>
            </a:extLst>
          </p:cNvPr>
          <p:cNvPicPr>
            <a:picLocks noChangeAspect="1"/>
          </p:cNvPicPr>
          <p:nvPr/>
        </p:nvPicPr>
        <p:blipFill>
          <a:blip r:embed="rId2"/>
          <a:stretch>
            <a:fillRect/>
          </a:stretch>
        </p:blipFill>
        <p:spPr>
          <a:xfrm>
            <a:off x="8386916" y="1946787"/>
            <a:ext cx="3539084" cy="3441290"/>
          </a:xfrm>
          <a:prstGeom prst="rect">
            <a:avLst/>
          </a:prstGeom>
        </p:spPr>
      </p:pic>
      <p:sp>
        <p:nvSpPr>
          <p:cNvPr id="5" name="TextBox 4">
            <a:extLst>
              <a:ext uri="{FF2B5EF4-FFF2-40B4-BE49-F238E27FC236}">
                <a16:creationId xmlns:a16="http://schemas.microsoft.com/office/drawing/2014/main" id="{456890C7-12B4-4D93-9893-FAC7E2D2DD1F}"/>
              </a:ext>
            </a:extLst>
          </p:cNvPr>
          <p:cNvSpPr txBox="1"/>
          <p:nvPr/>
        </p:nvSpPr>
        <p:spPr>
          <a:xfrm>
            <a:off x="8386916" y="5368413"/>
            <a:ext cx="3569110" cy="307777"/>
          </a:xfrm>
          <a:prstGeom prst="rect">
            <a:avLst/>
          </a:prstGeom>
          <a:noFill/>
        </p:spPr>
        <p:txBody>
          <a:bodyPr wrap="square" rtlCol="0">
            <a:spAutoFit/>
          </a:bodyPr>
          <a:lstStyle/>
          <a:p>
            <a:pPr algn="ctr"/>
            <a:r>
              <a:rPr lang="en-US" sz="1400" dirty="0"/>
              <a:t>Poster: “Sign 504 Now”</a:t>
            </a:r>
          </a:p>
        </p:txBody>
      </p:sp>
    </p:spTree>
    <p:extLst>
      <p:ext uri="{BB962C8B-B14F-4D97-AF65-F5344CB8AC3E}">
        <p14:creationId xmlns:p14="http://schemas.microsoft.com/office/powerpoint/2010/main" val="36437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9C58A-F2E6-1F4F-F55F-103E9698E1EF}"/>
              </a:ext>
            </a:extLst>
          </p:cNvPr>
          <p:cNvSpPr>
            <a:spLocks noGrp="1"/>
          </p:cNvSpPr>
          <p:nvPr>
            <p:ph type="title"/>
          </p:nvPr>
        </p:nvSpPr>
        <p:spPr>
          <a:xfrm>
            <a:off x="1371600" y="685800"/>
            <a:ext cx="9601200" cy="680884"/>
          </a:xfrm>
        </p:spPr>
        <p:txBody>
          <a:bodyPr>
            <a:normAutofit/>
          </a:bodyPr>
          <a:lstStyle/>
          <a:p>
            <a:pPr algn="ctr"/>
            <a:r>
              <a:rPr lang="en-US" sz="3500" dirty="0"/>
              <a:t>Movement</a:t>
            </a:r>
            <a:r>
              <a:rPr lang="en-US" sz="3300" dirty="0"/>
              <a:t> 2 strategies: how rights were enforced</a:t>
            </a:r>
          </a:p>
        </p:txBody>
      </p:sp>
      <p:sp>
        <p:nvSpPr>
          <p:cNvPr id="3" name="Content Placeholder 2">
            <a:extLst>
              <a:ext uri="{FF2B5EF4-FFF2-40B4-BE49-F238E27FC236}">
                <a16:creationId xmlns:a16="http://schemas.microsoft.com/office/drawing/2014/main" id="{C26B366A-78FB-8C3D-89F8-2DA9E37ED259}"/>
              </a:ext>
            </a:extLst>
          </p:cNvPr>
          <p:cNvSpPr>
            <a:spLocks noGrp="1"/>
          </p:cNvSpPr>
          <p:nvPr>
            <p:ph idx="1"/>
          </p:nvPr>
        </p:nvSpPr>
        <p:spPr>
          <a:xfrm>
            <a:off x="1371600" y="1526458"/>
            <a:ext cx="9738852" cy="3805084"/>
          </a:xfrm>
        </p:spPr>
        <p:txBody>
          <a:bodyPr>
            <a:normAutofit/>
          </a:bodyPr>
          <a:lstStyle/>
          <a:p>
            <a:pPr marL="0" indent="0">
              <a:buNone/>
            </a:pPr>
            <a:r>
              <a:rPr lang="en-US" sz="2200" u="sng" dirty="0"/>
              <a:t>Common tactics</a:t>
            </a:r>
          </a:p>
          <a:p>
            <a:pPr lvl="1">
              <a:buFont typeface="Wingdings" panose="05000000000000000000" pitchFamily="2" charset="2"/>
              <a:buChar char="§"/>
            </a:pPr>
            <a:r>
              <a:rPr lang="en-US" sz="2200" i="0" dirty="0"/>
              <a:t>Protests and sit-ins to force government action (504)</a:t>
            </a:r>
          </a:p>
          <a:p>
            <a:pPr lvl="1">
              <a:buFont typeface="Wingdings" panose="05000000000000000000" pitchFamily="2" charset="2"/>
              <a:buChar char="§"/>
            </a:pPr>
            <a:r>
              <a:rPr lang="en-US" sz="2200" i="0" dirty="0"/>
              <a:t>Coalitions across disability groups and allies</a:t>
            </a:r>
          </a:p>
          <a:p>
            <a:pPr lvl="1">
              <a:buFont typeface="Wingdings" panose="05000000000000000000" pitchFamily="2" charset="2"/>
              <a:buChar char="§"/>
            </a:pPr>
            <a:r>
              <a:rPr lang="en-US" sz="2200" i="0" dirty="0"/>
              <a:t>Push for broad civil rights law (ADA)</a:t>
            </a:r>
          </a:p>
          <a:p>
            <a:pPr lvl="1">
              <a:buFont typeface="Wingdings" panose="05000000000000000000" pitchFamily="2" charset="2"/>
              <a:buChar char="§"/>
            </a:pPr>
            <a:r>
              <a:rPr lang="en-US" sz="2200" i="0" dirty="0"/>
              <a:t>Ongoing enforcement and implementation battles</a:t>
            </a:r>
          </a:p>
          <a:p>
            <a:pPr marL="0" indent="0">
              <a:buNone/>
            </a:pPr>
            <a:r>
              <a:rPr lang="en-US" sz="2200" b="1" u="sng" dirty="0"/>
              <a:t>What makes this different from Japanese American redress?</a:t>
            </a:r>
          </a:p>
          <a:p>
            <a:pPr lvl="1">
              <a:buFont typeface="Wingdings" panose="05000000000000000000" pitchFamily="2" charset="2"/>
              <a:buChar char="§"/>
            </a:pPr>
            <a:r>
              <a:rPr lang="en-US" sz="2200" i="0" dirty="0"/>
              <a:t>Disability rights aimed at changing rules for the future (access and equality),</a:t>
            </a:r>
          </a:p>
          <a:p>
            <a:pPr lvl="1">
              <a:buFont typeface="Wingdings" panose="05000000000000000000" pitchFamily="2" charset="2"/>
              <a:buChar char="§"/>
            </a:pPr>
            <a:r>
              <a:rPr lang="en-US" sz="2200" i="0" dirty="0"/>
              <a:t>not mainly paying compensation for one past event.</a:t>
            </a:r>
          </a:p>
          <a:p>
            <a:endParaRPr lang="en-US" sz="2200" dirty="0"/>
          </a:p>
        </p:txBody>
      </p:sp>
      <p:sp>
        <p:nvSpPr>
          <p:cNvPr id="4" name="Shape 8">
            <a:extLst>
              <a:ext uri="{FF2B5EF4-FFF2-40B4-BE49-F238E27FC236}">
                <a16:creationId xmlns:a16="http://schemas.microsoft.com/office/drawing/2014/main" id="{28461B37-884F-C2D5-FA2F-755EF979F671}"/>
              </a:ext>
            </a:extLst>
          </p:cNvPr>
          <p:cNvSpPr/>
          <p:nvPr/>
        </p:nvSpPr>
        <p:spPr>
          <a:xfrm>
            <a:off x="2682240" y="5855110"/>
            <a:ext cx="6979920" cy="496529"/>
          </a:xfrm>
          <a:prstGeom prst="roundRect">
            <a:avLst/>
          </a:prstGeom>
          <a:solidFill>
            <a:srgbClr val="00B0F0"/>
          </a:solidFill>
          <a:ln w="12700">
            <a:solidFill>
              <a:srgbClr val="F2C76E"/>
            </a:solidFill>
            <a:prstDash val="solid"/>
          </a:ln>
          <a:effectLst>
            <a:outerShdw blurRad="38100" dist="19050" dir="2700000" algn="bl" rotWithShape="0">
              <a:srgbClr val="000000">
                <a:alpha val="12000"/>
              </a:srgbClr>
            </a:outerShdw>
          </a:effectLst>
        </p:spPr>
        <p:txBody>
          <a:bodyPr/>
          <a:lstStyle/>
          <a:p>
            <a:r>
              <a:rPr lang="en-US" dirty="0"/>
              <a:t>Outcome: Rights expanded through law and enforcement (504 - ADA).</a:t>
            </a:r>
          </a:p>
        </p:txBody>
      </p:sp>
    </p:spTree>
    <p:extLst>
      <p:ext uri="{BB962C8B-B14F-4D97-AF65-F5344CB8AC3E}">
        <p14:creationId xmlns:p14="http://schemas.microsoft.com/office/powerpoint/2010/main" val="2504396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08070-669E-793D-2FEB-06CE7EB81B5E}"/>
              </a:ext>
            </a:extLst>
          </p:cNvPr>
          <p:cNvSpPr>
            <a:spLocks noGrp="1"/>
          </p:cNvSpPr>
          <p:nvPr>
            <p:ph type="title"/>
          </p:nvPr>
        </p:nvSpPr>
        <p:spPr>
          <a:xfrm>
            <a:off x="1371600" y="685800"/>
            <a:ext cx="9601200" cy="759542"/>
          </a:xfrm>
        </p:spPr>
        <p:txBody>
          <a:bodyPr/>
          <a:lstStyle/>
          <a:p>
            <a:pPr algn="ctr"/>
            <a:r>
              <a:rPr lang="en-US" dirty="0"/>
              <a:t>Compare &amp; contrast</a:t>
            </a:r>
          </a:p>
        </p:txBody>
      </p:sp>
      <p:graphicFrame>
        <p:nvGraphicFramePr>
          <p:cNvPr id="8" name="Content Placeholder 7">
            <a:extLst>
              <a:ext uri="{FF2B5EF4-FFF2-40B4-BE49-F238E27FC236}">
                <a16:creationId xmlns:a16="http://schemas.microsoft.com/office/drawing/2014/main" id="{58B2F786-DE92-C095-E93C-C51027FDE585}"/>
              </a:ext>
            </a:extLst>
          </p:cNvPr>
          <p:cNvGraphicFramePr>
            <a:graphicFrameLocks noGrp="1"/>
          </p:cNvGraphicFramePr>
          <p:nvPr>
            <p:ph idx="1"/>
            <p:extLst>
              <p:ext uri="{D42A27DB-BD31-4B8C-83A1-F6EECF244321}">
                <p14:modId xmlns:p14="http://schemas.microsoft.com/office/powerpoint/2010/main" val="3167907186"/>
              </p:ext>
            </p:extLst>
          </p:nvPr>
        </p:nvGraphicFramePr>
        <p:xfrm>
          <a:off x="1371600" y="1445342"/>
          <a:ext cx="9601197" cy="4142656"/>
        </p:xfrm>
        <a:graphic>
          <a:graphicData uri="http://schemas.openxmlformats.org/drawingml/2006/table">
            <a:tbl>
              <a:tblPr firstRow="1" bandRow="1">
                <a:tableStyleId>{5C22544A-7EE6-4342-B048-85BDC9FD1C3A}</a:tableStyleId>
              </a:tblPr>
              <a:tblGrid>
                <a:gridCol w="3200399">
                  <a:extLst>
                    <a:ext uri="{9D8B030D-6E8A-4147-A177-3AD203B41FA5}">
                      <a16:colId xmlns:a16="http://schemas.microsoft.com/office/drawing/2014/main" val="3308964363"/>
                    </a:ext>
                  </a:extLst>
                </a:gridCol>
                <a:gridCol w="3200399">
                  <a:extLst>
                    <a:ext uri="{9D8B030D-6E8A-4147-A177-3AD203B41FA5}">
                      <a16:colId xmlns:a16="http://schemas.microsoft.com/office/drawing/2014/main" val="3114541576"/>
                    </a:ext>
                  </a:extLst>
                </a:gridCol>
                <a:gridCol w="3200399">
                  <a:extLst>
                    <a:ext uri="{9D8B030D-6E8A-4147-A177-3AD203B41FA5}">
                      <a16:colId xmlns:a16="http://schemas.microsoft.com/office/drawing/2014/main" val="3770878288"/>
                    </a:ext>
                  </a:extLst>
                </a:gridCol>
              </a:tblGrid>
              <a:tr h="465252">
                <a:tc>
                  <a:txBody>
                    <a:bodyPr/>
                    <a:lstStyle/>
                    <a:p>
                      <a:pPr>
                        <a:buNone/>
                      </a:pPr>
                      <a:r>
                        <a:rPr lang="en-US" dirty="0"/>
                        <a:t>Category</a:t>
                      </a:r>
                    </a:p>
                  </a:txBody>
                  <a:tcPr anchor="ctr"/>
                </a:tc>
                <a:tc>
                  <a:txBody>
                    <a:bodyPr/>
                    <a:lstStyle/>
                    <a:p>
                      <a:pPr>
                        <a:buNone/>
                      </a:pPr>
                      <a:r>
                        <a:rPr lang="en-US"/>
                        <a:t>Japanese American Redress</a:t>
                      </a:r>
                    </a:p>
                  </a:txBody>
                  <a:tcPr anchor="ctr"/>
                </a:tc>
                <a:tc>
                  <a:txBody>
                    <a:bodyPr/>
                    <a:lstStyle/>
                    <a:p>
                      <a:pPr>
                        <a:buNone/>
                      </a:pPr>
                      <a:r>
                        <a:rPr lang="en-US"/>
                        <a:t>Disability Rights</a:t>
                      </a:r>
                    </a:p>
                  </a:txBody>
                  <a:tcPr anchor="ctr"/>
                </a:tc>
                <a:extLst>
                  <a:ext uri="{0D108BD9-81ED-4DB2-BD59-A6C34878D82A}">
                    <a16:rowId xmlns:a16="http://schemas.microsoft.com/office/drawing/2014/main" val="3213007741"/>
                  </a:ext>
                </a:extLst>
              </a:tr>
              <a:tr h="803038">
                <a:tc>
                  <a:txBody>
                    <a:bodyPr/>
                    <a:lstStyle/>
                    <a:p>
                      <a:pPr>
                        <a:buNone/>
                      </a:pPr>
                      <a:r>
                        <a:rPr lang="en-US" b="1"/>
                        <a:t>Injustice</a:t>
                      </a:r>
                      <a:endParaRPr lang="en-US"/>
                    </a:p>
                  </a:txBody>
                  <a:tcPr anchor="ctr"/>
                </a:tc>
                <a:tc>
                  <a:txBody>
                    <a:bodyPr/>
                    <a:lstStyle/>
                    <a:p>
                      <a:pPr>
                        <a:buNone/>
                      </a:pPr>
                      <a:r>
                        <a:rPr lang="en-US"/>
                        <a:t>WWII incarceration (state action)</a:t>
                      </a:r>
                    </a:p>
                  </a:txBody>
                  <a:tcPr anchor="ctr"/>
                </a:tc>
                <a:tc>
                  <a:txBody>
                    <a:bodyPr/>
                    <a:lstStyle/>
                    <a:p>
                      <a:pPr>
                        <a:buNone/>
                      </a:pPr>
                      <a:r>
                        <a:rPr lang="en-US"/>
                        <a:t>Ongoing discrimination and barriers</a:t>
                      </a:r>
                    </a:p>
                  </a:txBody>
                  <a:tcPr anchor="ctr"/>
                </a:tc>
                <a:extLst>
                  <a:ext uri="{0D108BD9-81ED-4DB2-BD59-A6C34878D82A}">
                    <a16:rowId xmlns:a16="http://schemas.microsoft.com/office/drawing/2014/main" val="2128588451"/>
                  </a:ext>
                </a:extLst>
              </a:tr>
              <a:tr h="803038">
                <a:tc>
                  <a:txBody>
                    <a:bodyPr/>
                    <a:lstStyle/>
                    <a:p>
                      <a:pPr>
                        <a:buNone/>
                      </a:pPr>
                      <a:r>
                        <a:rPr lang="en-US" b="1"/>
                        <a:t>Main target</a:t>
                      </a:r>
                      <a:endParaRPr lang="en-US"/>
                    </a:p>
                  </a:txBody>
                  <a:tcPr anchor="ctr"/>
                </a:tc>
                <a:tc>
                  <a:txBody>
                    <a:bodyPr/>
                    <a:lstStyle/>
                    <a:p>
                      <a:pPr>
                        <a:buNone/>
                      </a:pPr>
                      <a:r>
                        <a:rPr lang="en-US" dirty="0"/>
                        <a:t>Congress and executive apology</a:t>
                      </a:r>
                    </a:p>
                  </a:txBody>
                  <a:tcPr anchor="ctr"/>
                </a:tc>
                <a:tc>
                  <a:txBody>
                    <a:bodyPr/>
                    <a:lstStyle/>
                    <a:p>
                      <a:pPr>
                        <a:buNone/>
                      </a:pPr>
                      <a:r>
                        <a:rPr lang="en-US"/>
                        <a:t>Federal rules and broad civil rights law</a:t>
                      </a:r>
                    </a:p>
                  </a:txBody>
                  <a:tcPr anchor="ctr"/>
                </a:tc>
                <a:extLst>
                  <a:ext uri="{0D108BD9-81ED-4DB2-BD59-A6C34878D82A}">
                    <a16:rowId xmlns:a16="http://schemas.microsoft.com/office/drawing/2014/main" val="2156602224"/>
                  </a:ext>
                </a:extLst>
              </a:tr>
              <a:tr h="803038">
                <a:tc>
                  <a:txBody>
                    <a:bodyPr/>
                    <a:lstStyle/>
                    <a:p>
                      <a:pPr>
                        <a:buNone/>
                      </a:pPr>
                      <a:r>
                        <a:rPr lang="en-US" b="1"/>
                        <a:t>Key tactics</a:t>
                      </a:r>
                      <a:endParaRPr lang="en-US"/>
                    </a:p>
                  </a:txBody>
                  <a:tcPr anchor="ctr"/>
                </a:tc>
                <a:tc>
                  <a:txBody>
                    <a:bodyPr/>
                    <a:lstStyle/>
                    <a:p>
                      <a:pPr>
                        <a:buNone/>
                      </a:pPr>
                      <a:r>
                        <a:rPr lang="en-US"/>
                        <a:t>Official record and lobbying and public education</a:t>
                      </a:r>
                    </a:p>
                  </a:txBody>
                  <a:tcPr anchor="ctr"/>
                </a:tc>
                <a:tc>
                  <a:txBody>
                    <a:bodyPr/>
                    <a:lstStyle/>
                    <a:p>
                      <a:pPr>
                        <a:buNone/>
                      </a:pPr>
                      <a:r>
                        <a:rPr lang="en-US"/>
                        <a:t>Sit-ins and protest and coalitions and enforcement</a:t>
                      </a:r>
                    </a:p>
                  </a:txBody>
                  <a:tcPr anchor="ctr"/>
                </a:tc>
                <a:extLst>
                  <a:ext uri="{0D108BD9-81ED-4DB2-BD59-A6C34878D82A}">
                    <a16:rowId xmlns:a16="http://schemas.microsoft.com/office/drawing/2014/main" val="197812003"/>
                  </a:ext>
                </a:extLst>
              </a:tr>
              <a:tr h="803038">
                <a:tc>
                  <a:txBody>
                    <a:bodyPr/>
                    <a:lstStyle/>
                    <a:p>
                      <a:pPr>
                        <a:buNone/>
                      </a:pPr>
                      <a:r>
                        <a:rPr lang="en-US" b="1"/>
                        <a:t>Outcome</a:t>
                      </a:r>
                      <a:endParaRPr lang="en-US"/>
                    </a:p>
                  </a:txBody>
                  <a:tcPr anchor="ctr"/>
                </a:tc>
                <a:tc>
                  <a:txBody>
                    <a:bodyPr/>
                    <a:lstStyle/>
                    <a:p>
                      <a:pPr>
                        <a:buNone/>
                      </a:pPr>
                      <a:r>
                        <a:rPr lang="en-US"/>
                        <a:t>Apology and reparations (1988)</a:t>
                      </a:r>
                    </a:p>
                  </a:txBody>
                  <a:tcPr anchor="ctr"/>
                </a:tc>
                <a:tc>
                  <a:txBody>
                    <a:bodyPr/>
                    <a:lstStyle/>
                    <a:p>
                      <a:pPr>
                        <a:buNone/>
                      </a:pPr>
                      <a:r>
                        <a:rPr lang="en-US"/>
                        <a:t>Anti-discrimination protections (1990)</a:t>
                      </a:r>
                    </a:p>
                  </a:txBody>
                  <a:tcPr anchor="ctr"/>
                </a:tc>
                <a:extLst>
                  <a:ext uri="{0D108BD9-81ED-4DB2-BD59-A6C34878D82A}">
                    <a16:rowId xmlns:a16="http://schemas.microsoft.com/office/drawing/2014/main" val="4123619708"/>
                  </a:ext>
                </a:extLst>
              </a:tr>
              <a:tr h="465252">
                <a:tc>
                  <a:txBody>
                    <a:bodyPr/>
                    <a:lstStyle/>
                    <a:p>
                      <a:pPr>
                        <a:buNone/>
                      </a:pPr>
                      <a:r>
                        <a:rPr lang="en-US" b="1"/>
                        <a:t>Redress style</a:t>
                      </a:r>
                      <a:endParaRPr lang="en-US"/>
                    </a:p>
                  </a:txBody>
                  <a:tcPr anchor="ctr"/>
                </a:tc>
                <a:tc>
                  <a:txBody>
                    <a:bodyPr/>
                    <a:lstStyle/>
                    <a:p>
                      <a:pPr>
                        <a:buNone/>
                      </a:pPr>
                      <a:r>
                        <a:rPr lang="en-US"/>
                        <a:t>Retrospective repair</a:t>
                      </a:r>
                    </a:p>
                  </a:txBody>
                  <a:tcPr anchor="ctr"/>
                </a:tc>
                <a:tc>
                  <a:txBody>
                    <a:bodyPr/>
                    <a:lstStyle/>
                    <a:p>
                      <a:pPr>
                        <a:buNone/>
                      </a:pPr>
                      <a:r>
                        <a:rPr lang="en-US" dirty="0"/>
                        <a:t>Prospective rights and access</a:t>
                      </a:r>
                    </a:p>
                  </a:txBody>
                  <a:tcPr anchor="ctr"/>
                </a:tc>
                <a:extLst>
                  <a:ext uri="{0D108BD9-81ED-4DB2-BD59-A6C34878D82A}">
                    <a16:rowId xmlns:a16="http://schemas.microsoft.com/office/drawing/2014/main" val="2620108116"/>
                  </a:ext>
                </a:extLst>
              </a:tr>
            </a:tbl>
          </a:graphicData>
        </a:graphic>
      </p:graphicFrame>
      <p:sp>
        <p:nvSpPr>
          <p:cNvPr id="9" name="Shape 1">
            <a:extLst>
              <a:ext uri="{FF2B5EF4-FFF2-40B4-BE49-F238E27FC236}">
                <a16:creationId xmlns:a16="http://schemas.microsoft.com/office/drawing/2014/main" id="{52B1B021-E37C-152B-048E-0DF246C1FE92}"/>
              </a:ext>
            </a:extLst>
          </p:cNvPr>
          <p:cNvSpPr/>
          <p:nvPr/>
        </p:nvSpPr>
        <p:spPr>
          <a:xfrm>
            <a:off x="4664668" y="5966460"/>
            <a:ext cx="2862664" cy="411480"/>
          </a:xfrm>
          <a:prstGeom prst="roundRect">
            <a:avLst/>
          </a:prstGeom>
          <a:solidFill>
            <a:srgbClr val="00B0F0"/>
          </a:solidFill>
          <a:ln w="12700">
            <a:solidFill>
              <a:srgbClr val="BBD3FF"/>
            </a:solidFill>
            <a:prstDash val="solid"/>
          </a:ln>
        </p:spPr>
        <p:txBody>
          <a:bodyPr/>
          <a:lstStyle/>
          <a:p>
            <a:pPr algn="ctr"/>
            <a:r>
              <a:rPr lang="en-US" dirty="0"/>
              <a:t>Same goal, different routes</a:t>
            </a:r>
          </a:p>
        </p:txBody>
      </p:sp>
    </p:spTree>
    <p:extLst>
      <p:ext uri="{BB962C8B-B14F-4D97-AF65-F5344CB8AC3E}">
        <p14:creationId xmlns:p14="http://schemas.microsoft.com/office/powerpoint/2010/main" val="3265132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18A4-2D86-7F84-BC4E-B165E1794C59}"/>
              </a:ext>
            </a:extLst>
          </p:cNvPr>
          <p:cNvSpPr>
            <a:spLocks noGrp="1"/>
          </p:cNvSpPr>
          <p:nvPr>
            <p:ph type="title"/>
          </p:nvPr>
        </p:nvSpPr>
        <p:spPr>
          <a:xfrm>
            <a:off x="1371600" y="1108587"/>
            <a:ext cx="9601200" cy="680884"/>
          </a:xfrm>
        </p:spPr>
        <p:txBody>
          <a:bodyPr>
            <a:normAutofit fontScale="90000"/>
          </a:bodyPr>
          <a:lstStyle/>
          <a:p>
            <a:pPr algn="ctr"/>
            <a:r>
              <a:rPr lang="en-US" dirty="0"/>
              <a:t>Preliminary thesis</a:t>
            </a:r>
          </a:p>
        </p:txBody>
      </p:sp>
      <p:sp>
        <p:nvSpPr>
          <p:cNvPr id="3" name="Content Placeholder 2">
            <a:extLst>
              <a:ext uri="{FF2B5EF4-FFF2-40B4-BE49-F238E27FC236}">
                <a16:creationId xmlns:a16="http://schemas.microsoft.com/office/drawing/2014/main" id="{019B1D3A-1B86-217D-E7D5-75107C6DAE29}"/>
              </a:ext>
            </a:extLst>
          </p:cNvPr>
          <p:cNvSpPr>
            <a:spLocks noGrp="1"/>
          </p:cNvSpPr>
          <p:nvPr>
            <p:ph idx="1"/>
          </p:nvPr>
        </p:nvSpPr>
        <p:spPr>
          <a:xfrm>
            <a:off x="1371600" y="3746090"/>
            <a:ext cx="9601200" cy="2121310"/>
          </a:xfrm>
        </p:spPr>
        <p:txBody>
          <a:bodyPr/>
          <a:lstStyle/>
          <a:p>
            <a:pPr marL="0" indent="0" algn="ctr">
              <a:buNone/>
            </a:pPr>
            <a:r>
              <a:rPr lang="en-US" b="1" u="sng" dirty="0"/>
              <a:t>Takeaways</a:t>
            </a:r>
          </a:p>
          <a:p>
            <a:pPr>
              <a:buFont typeface="Wingdings" panose="05000000000000000000" pitchFamily="2" charset="2"/>
              <a:buChar char="§"/>
            </a:pPr>
            <a:r>
              <a:rPr lang="en-US" dirty="0"/>
              <a:t>Redress can be “repair the past” (apology/reparations) or “protect rights going forward.”</a:t>
            </a:r>
          </a:p>
          <a:p>
            <a:pPr>
              <a:buFont typeface="Wingdings" panose="05000000000000000000" pitchFamily="2" charset="2"/>
              <a:buChar char="§"/>
            </a:pPr>
            <a:r>
              <a:rPr lang="en-US" dirty="0"/>
              <a:t>Both movements used federal law, but got there differently.</a:t>
            </a:r>
          </a:p>
          <a:p>
            <a:pPr>
              <a:buFont typeface="Wingdings" panose="05000000000000000000" pitchFamily="2" charset="2"/>
              <a:buChar char="§"/>
            </a:pPr>
            <a:r>
              <a:rPr lang="en-US" dirty="0"/>
              <a:t>Public storytelling and organizing mattered in both cases.</a:t>
            </a:r>
          </a:p>
          <a:p>
            <a:endParaRPr lang="en-US" dirty="0"/>
          </a:p>
        </p:txBody>
      </p:sp>
      <p:sp>
        <p:nvSpPr>
          <p:cNvPr id="4" name="Shape 1">
            <a:extLst>
              <a:ext uri="{FF2B5EF4-FFF2-40B4-BE49-F238E27FC236}">
                <a16:creationId xmlns:a16="http://schemas.microsoft.com/office/drawing/2014/main" id="{38C63D26-E2FB-90FF-2BAE-AC3316D2733D}"/>
              </a:ext>
            </a:extLst>
          </p:cNvPr>
          <p:cNvSpPr/>
          <p:nvPr/>
        </p:nvSpPr>
        <p:spPr>
          <a:xfrm>
            <a:off x="1619864" y="2050025"/>
            <a:ext cx="9601200" cy="1435510"/>
          </a:xfrm>
          <a:prstGeom prst="roundRect">
            <a:avLst/>
          </a:prstGeom>
          <a:solidFill>
            <a:srgbClr val="FFC000"/>
          </a:solidFill>
          <a:ln w="12700">
            <a:solidFill>
              <a:srgbClr val="D9E2F1"/>
            </a:solidFill>
            <a:prstDash val="solid"/>
          </a:ln>
          <a:effectLst>
            <a:outerShdw blurRad="38100" dist="19050" dir="2700000" algn="bl" rotWithShape="0">
              <a:srgbClr val="000000">
                <a:alpha val="10000"/>
              </a:srgbClr>
            </a:outerShdw>
          </a:effectLst>
        </p:spPr>
        <p:txBody>
          <a:bodyPr/>
          <a:lstStyle/>
          <a:p>
            <a:r>
              <a:rPr lang="en-US" dirty="0"/>
              <a:t>Minority groups sought redress by pressuring the federal government to admit injustice and act, but their approaches differed based on their goals. Japanese Americans pursued retrospective repair through an official record and a reparations law, while disability rights activists used protest and policy enforcement to win broad anti-discrimination protections.</a:t>
            </a:r>
          </a:p>
        </p:txBody>
      </p:sp>
    </p:spTree>
    <p:extLst>
      <p:ext uri="{BB962C8B-B14F-4D97-AF65-F5344CB8AC3E}">
        <p14:creationId xmlns:p14="http://schemas.microsoft.com/office/powerpoint/2010/main" val="35584474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{052FC28F-60E9-4D8B-A627-C8719E020AE4}TFc3084226-2d0c-440f-9f46-6b48c7a7f670e6ba4a85-fc4a2881d6b3</Template>
  <TotalTime>84</TotalTime>
  <Words>564</Words>
  <Application>Microsoft Office PowerPoint</Application>
  <PresentationFormat>Widescreen</PresentationFormat>
  <Paragraphs>79</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Franklin Gothic Book</vt:lpstr>
      <vt:lpstr>Wingdings</vt:lpstr>
      <vt:lpstr>Crop</vt:lpstr>
      <vt:lpstr>Civil Rights &amp; Redress (1877-2000)</vt:lpstr>
      <vt:lpstr>Movement 1: Japanese American Redress</vt:lpstr>
      <vt:lpstr>Movement 1 strategies: how redress was won</vt:lpstr>
      <vt:lpstr>Movement 2: Disability Rights</vt:lpstr>
      <vt:lpstr>Movement 2 strategies: how rights were enforced</vt:lpstr>
      <vt:lpstr>Compare &amp; contrast</vt:lpstr>
      <vt:lpstr>Preliminary thesis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30</cp:revision>
  <dcterms:created xsi:type="dcterms:W3CDTF">2026-01-06T18:57:40Z</dcterms:created>
  <dcterms:modified xsi:type="dcterms:W3CDTF">2026-01-06T20:22:26Z</dcterms:modified>
</cp:coreProperties>
</file>